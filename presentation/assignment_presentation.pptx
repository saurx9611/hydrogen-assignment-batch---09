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 b="1">
                <a:solidFill>
                  <a:srgbClr val="D95F02"/>
                </a:solidFill>
              </a:defRPr>
            </a:pPr>
            <a:r>
              <a:t>GASIFICATION &amp; REFORMING PROCESSES — TECHNICAL DEFENSE</a:t>
            </a:r>
          </a:p>
          <a:p>
            <a:pPr>
              <a:spcAft>
                <a:spcPts val="1400"/>
              </a:spcAft>
              <a:defRPr sz="3000" b="1">
                <a:solidFill>
                  <a:srgbClr val="FFFFFF"/>
                </a:solidFill>
              </a:defRPr>
            </a:pPr>
            <a:r>
              <a:t>Computer Simulation, Spatial Analysis, and Experimental Validation of a Fixed-Bed Downdraft Wood Gasifier</a:t>
            </a:r>
          </a:p>
          <a:p>
            <a:pPr>
              <a:spcAft>
                <a:spcPts val="2800"/>
              </a:spcAft>
              <a:defRPr sz="1600">
                <a:solidFill>
                  <a:srgbClr val="D2E1F5"/>
                </a:solidFill>
              </a:defRPr>
            </a:pPr>
            <a:r>
              <a:t>Mechanistic Multi-Zone Modeling, Boundary-Conforming Spatial Transport, and Parametric Optimization for Industrial Tea Drying</a:t>
            </a:r>
          </a:p>
          <a:p>
            <a:pPr>
              <a:defRPr sz="1200">
                <a:solidFill>
                  <a:srgbClr val="BECDE1"/>
                </a:solidFill>
              </a:defRPr>
            </a:pPr>
            <a:r>
              <a:t>Primary Benchmark: Jayah, T. H., Aye, L., Fuller, R. J., &amp; Stewart, D. F. (2003). Biomass and Bioenergy, 25(5), 459–469</a:t>
            </a:r>
            <a:br/>
            <a:r>
              <a:t>Submission Batch: Group / Batch 01 | Academic Year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FIXED-BED DOWNDRAFT WOOD GASIFIER SIMULATION</a:t>
            </a:r>
          </a:p>
          <a:p>
            <a:pPr>
              <a:defRPr sz="2200" b="1">
                <a:solidFill>
                  <a:srgbClr val="1B4478"/>
                </a:solidFill>
              </a:defRPr>
            </a:pPr>
            <a:r>
              <a:t>Industrial Motivation: Energy &amp; Fuelwood Savings in Tea Drying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28416" cy="484632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B4478"/>
                </a:solidFill>
              </a:defRPr>
            </a:pPr>
            <a:r>
              <a:t>The Tea Drying Challenge</a:t>
            </a:r>
          </a:p>
          <a:p>
            <a:pPr>
              <a:spcAft>
                <a:spcPts val="200"/>
              </a:spcAft>
              <a:defRPr b="1" sz="1100">
                <a:solidFill>
                  <a:srgbClr val="282828"/>
                </a:solidFill>
              </a:defRPr>
            </a:pPr>
            <a:r>
              <a:t>• Thermal Energy Demand: </a:t>
            </a:r>
          </a:p>
          <a:p>
            <a:pPr>
              <a:spcAft>
                <a:spcPts val="1000"/>
              </a:spcAft>
              <a:defRPr sz="1000">
                <a:solidFill>
                  <a:srgbClr val="464646"/>
                </a:solidFill>
              </a:defRPr>
            </a:pPr>
            <a:r>
              <a:t>Fresh tea leaves contain 75–80% moisture (w.b.) that must be dried to 2.5–3.0% using clean air at 370–415 K (97–142°C).</a:t>
            </a:r>
          </a:p>
          <a:p>
            <a:pPr>
              <a:spcAft>
                <a:spcPts val="200"/>
              </a:spcAft>
              <a:defRPr b="1" sz="1100">
                <a:solidFill>
                  <a:srgbClr val="282828"/>
                </a:solidFill>
              </a:defRPr>
            </a:pPr>
            <a:r>
              <a:t>• Fuelwood Pressure: </a:t>
            </a:r>
          </a:p>
          <a:p>
            <a:pPr>
              <a:spcAft>
                <a:spcPts val="1000"/>
              </a:spcAft>
              <a:defRPr sz="1000">
                <a:solidFill>
                  <a:srgbClr val="464646"/>
                </a:solidFill>
              </a:defRPr>
            </a:pPr>
            <a:r>
              <a:t>Sri Lanka's tea industry is heavily dependent on rubber wood (Hevea brasiliensis), accounting for &gt;70% of total industrial fuelwood consumption.</a:t>
            </a:r>
          </a:p>
          <a:p>
            <a:pPr>
              <a:spcAft>
                <a:spcPts val="200"/>
              </a:spcAft>
              <a:defRPr b="1" sz="1100">
                <a:solidFill>
                  <a:srgbClr val="282828"/>
                </a:solidFill>
              </a:defRPr>
            </a:pPr>
            <a:r>
              <a:t>• Traditional Inefficiency: </a:t>
            </a:r>
          </a:p>
          <a:p>
            <a:pPr>
              <a:spcAft>
                <a:spcPts val="1000"/>
              </a:spcAft>
              <a:defRPr sz="1000">
                <a:solidFill>
                  <a:srgbClr val="464646"/>
                </a:solidFill>
              </a:defRPr>
            </a:pPr>
            <a:r>
              <a:t>Conventional split-log fire-tube furnaces suffer from poor thermal efficiency, severe soot emissions, and manual operational instability.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84632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D95F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08576" y="155448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D95F02"/>
                </a:solidFill>
              </a:defRPr>
            </a:pPr>
            <a:r>
              <a:t>Economic &amp; Ecological Drivers</a:t>
            </a:r>
          </a:p>
          <a:p>
            <a:pPr>
              <a:spcAft>
                <a:spcPts val="200"/>
              </a:spcAft>
              <a:defRPr b="1" sz="1100">
                <a:solidFill>
                  <a:srgbClr val="282828"/>
                </a:solidFill>
              </a:defRPr>
            </a:pPr>
            <a:r>
              <a:t>• 8% Life-Cycle Cost Savings: </a:t>
            </a:r>
          </a:p>
          <a:p>
            <a:pPr>
              <a:spcAft>
                <a:spcPts val="1000"/>
              </a:spcAft>
              <a:defRPr sz="1000">
                <a:solidFill>
                  <a:srgbClr val="464646"/>
                </a:solidFill>
              </a:defRPr>
            </a:pPr>
            <a:r>
              <a:t>Techno-economic feasibility studies (Jayah et al., 1998, 2002) show biomass gasification reduces lifecycle heat costs by 8%.</a:t>
            </a:r>
          </a:p>
          <a:p>
            <a:pPr>
              <a:spcAft>
                <a:spcPts val="200"/>
              </a:spcAft>
              <a:defRPr b="1" sz="1100">
                <a:solidFill>
                  <a:srgbClr val="282828"/>
                </a:solidFill>
              </a:defRPr>
            </a:pPr>
            <a:r>
              <a:t>• 12% Fuelwood Reduction: </a:t>
            </a:r>
          </a:p>
          <a:p>
            <a:pPr>
              <a:spcAft>
                <a:spcPts val="1000"/>
              </a:spcAft>
              <a:defRPr sz="1000">
                <a:solidFill>
                  <a:srgbClr val="464646"/>
                </a:solidFill>
              </a:defRPr>
            </a:pPr>
            <a:r>
              <a:t>High-efficiency producer gas combustion achieves an immediate 12% reduction in specific fuelwood consumption.</a:t>
            </a:r>
          </a:p>
          <a:p>
            <a:pPr>
              <a:spcAft>
                <a:spcPts val="200"/>
              </a:spcAft>
              <a:defRPr b="1" sz="1100">
                <a:solidFill>
                  <a:srgbClr val="282828"/>
                </a:solidFill>
              </a:defRPr>
            </a:pPr>
            <a:r>
              <a:t>• Carbon-Neutral Heat: </a:t>
            </a:r>
          </a:p>
          <a:p>
            <a:pPr>
              <a:spcAft>
                <a:spcPts val="1000"/>
              </a:spcAft>
              <a:defRPr sz="1000">
                <a:solidFill>
                  <a:srgbClr val="464646"/>
                </a:solidFill>
              </a:defRPr>
            </a:pPr>
            <a:r>
              <a:t>Displaces imported fuel oil and preserves agricultural forests via managed rubber wood replanting cycles.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371600"/>
            <a:ext cx="3328416" cy="484632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1B9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155448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B9E77"/>
                </a:solidFill>
              </a:defRPr>
            </a:pPr>
            <a:r>
              <a:t>Engineering Bottlenecks</a:t>
            </a:r>
          </a:p>
          <a:p>
            <a:pPr>
              <a:spcAft>
                <a:spcPts val="200"/>
              </a:spcAft>
              <a:defRPr b="1" sz="1100">
                <a:solidFill>
                  <a:srgbClr val="282828"/>
                </a:solidFill>
              </a:defRPr>
            </a:pPr>
            <a:r>
              <a:t>• Tar Cracking &amp; Fouling: </a:t>
            </a:r>
          </a:p>
          <a:p>
            <a:pPr>
              <a:spcAft>
                <a:spcPts val="1000"/>
              </a:spcAft>
              <a:defRPr sz="1000">
                <a:solidFill>
                  <a:srgbClr val="464646"/>
                </a:solidFill>
              </a:defRPr>
            </a:pPr>
            <a:r>
              <a:t>Condensable organic tars foul heat-exchanger tubes and burner nozzles unless cracked in high-temperature throat zones.</a:t>
            </a:r>
          </a:p>
          <a:p>
            <a:pPr>
              <a:spcAft>
                <a:spcPts val="200"/>
              </a:spcAft>
              <a:defRPr b="1" sz="1100">
                <a:solidFill>
                  <a:srgbClr val="282828"/>
                </a:solidFill>
              </a:defRPr>
            </a:pPr>
            <a:r>
              <a:t>• Bed Sizing Dilemma: </a:t>
            </a:r>
          </a:p>
          <a:p>
            <a:pPr>
              <a:spcAft>
                <a:spcPts val="1000"/>
              </a:spcAft>
              <a:defRPr sz="1000">
                <a:solidFill>
                  <a:srgbClr val="464646"/>
                </a:solidFill>
              </a:defRPr>
            </a:pPr>
            <a:r>
              <a:t>Inadequate reduction hearth length causes unburned carbon carryover; excessive length adds pressure drop and wall heat loss.</a:t>
            </a:r>
          </a:p>
          <a:p>
            <a:pPr>
              <a:spcAft>
                <a:spcPts val="200"/>
              </a:spcAft>
              <a:defRPr b="1" sz="1100">
                <a:solidFill>
                  <a:srgbClr val="282828"/>
                </a:solidFill>
              </a:defRPr>
            </a:pPr>
            <a:r>
              <a:t>• Feedstock Variability: </a:t>
            </a:r>
          </a:p>
          <a:p>
            <a:pPr>
              <a:spcAft>
                <a:spcPts val="1000"/>
              </a:spcAft>
              <a:defRPr sz="1000">
                <a:solidFill>
                  <a:srgbClr val="464646"/>
                </a:solidFill>
              </a:defRPr>
            </a:pPr>
            <a:r>
              <a:t>Wide swings in wood chip dimensions (1–5 cm) and moisture (10–25%) alter bed permeability and gas heating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FIXED-BED DOWNDRAFT WOOD GASIFIER SIMULATION</a:t>
            </a:r>
          </a:p>
          <a:p>
            <a:pPr>
              <a:defRPr sz="2200" b="1">
                <a:solidFill>
                  <a:srgbClr val="1B4478"/>
                </a:solidFill>
              </a:defRPr>
            </a:pPr>
            <a:r>
              <a:t>Experimental Test Rig &amp; NERD Gasifier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EEF2F6"/>
          </a:solidFill>
          <a:ln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4478"/>
                </a:solidFill>
              </a:defRPr>
            </a:pPr>
            <a:r>
              <a:t>80 kWth NERD Downdraft Specifications</a:t>
            </a:r>
          </a:p>
          <a:p>
            <a:pPr>
              <a:spcAft>
                <a:spcPts val="700"/>
              </a:spcAft>
              <a:defRPr sz="1100">
                <a:solidFill>
                  <a:srgbClr val="282828"/>
                </a:solidFill>
              </a:defRPr>
            </a:pPr>
            <a:r>
              <a:t>• Upper Fuel Hopper: Diameter 920 mm, Height 1150 mm (holds 2–3 h fuel reserve)</a:t>
            </a:r>
          </a:p>
          <a:p>
            <a:pPr>
              <a:spcAft>
                <a:spcPts val="700"/>
              </a:spcAft>
              <a:defRPr sz="1100">
                <a:solidFill>
                  <a:srgbClr val="282828"/>
                </a:solidFill>
              </a:defRPr>
            </a:pPr>
            <a:r>
              <a:t>• Air Injection Nozzles: 12 radial nozzles (6 mm dia.), positioned 100 mm above throat</a:t>
            </a:r>
          </a:p>
          <a:p>
            <a:pPr>
              <a:spcAft>
                <a:spcPts val="700"/>
              </a:spcAft>
              <a:defRPr sz="1100">
                <a:solidFill>
                  <a:srgbClr val="282828"/>
                </a:solidFill>
              </a:defRPr>
            </a:pPr>
            <a:r>
              <a:t>• Constricted Throat: Diameter 100 mm, lined with high-alumina castable refractory</a:t>
            </a:r>
          </a:p>
          <a:p>
            <a:pPr>
              <a:spcAft>
                <a:spcPts val="700"/>
              </a:spcAft>
              <a:defRPr sz="1100">
                <a:solidFill>
                  <a:srgbClr val="282828"/>
                </a:solidFill>
              </a:defRPr>
            </a:pPr>
            <a:r>
              <a:t>• Divergent Hearth: Length 220 mm, expands at 61° to bottom diameter of 340 mm</a:t>
            </a:r>
          </a:p>
          <a:p>
            <a:pPr>
              <a:spcAft>
                <a:spcPts val="700"/>
              </a:spcAft>
              <a:defRPr sz="1100">
                <a:solidFill>
                  <a:srgbClr val="282828"/>
                </a:solidFill>
              </a:defRPr>
            </a:pPr>
            <a:r>
              <a:t>• Reactor Shell Construction: 22-gauge mild steel inner liner + 1.4 mm galvanized iron jacket</a:t>
            </a:r>
          </a:p>
          <a:p>
            <a:pPr>
              <a:spcAft>
                <a:spcPts val="700"/>
              </a:spcAft>
              <a:defRPr sz="1100">
                <a:solidFill>
                  <a:srgbClr val="282828"/>
                </a:solidFill>
              </a:defRPr>
            </a:pPr>
            <a:r>
              <a:t>• Thermal Rating: 80 kW thermal output, dry fuel feed rate 13.5–20.3 kg/h</a:t>
            </a:r>
          </a:p>
          <a:p>
            <a:pPr>
              <a:spcAft>
                <a:spcPts val="700"/>
              </a:spcAft>
              <a:defRPr sz="1100">
                <a:solidFill>
                  <a:srgbClr val="282828"/>
                </a:solidFill>
              </a:defRPr>
            </a:pPr>
            <a:r>
              <a:t>• Stratified Zones: Co-current downward flow of fuel chips and oxidant air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F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D95F02"/>
                </a:solidFill>
              </a:defRPr>
            </a:pPr>
            <a:r>
              <a:t>Distinct Thermochemical Reaction Zones</a:t>
            </a:r>
          </a:p>
          <a:p>
            <a:pPr>
              <a:spcAft>
                <a:spcPts val="100"/>
              </a:spcAft>
              <a:defRPr b="1" sz="1100">
                <a:solidFill>
                  <a:srgbClr val="1B4478"/>
                </a:solidFill>
              </a:defRPr>
            </a:pPr>
            <a:r>
              <a:t>▶ 1. Drying Zone (Top, 300–450 K):</a:t>
            </a:r>
          </a:p>
          <a:p>
            <a:pPr>
              <a:spcAft>
                <a:spcPts val="600"/>
              </a:spcAft>
              <a:defRPr sz="1000">
                <a:solidFill>
                  <a:srgbClr val="3C3C3C"/>
                </a:solidFill>
              </a:defRPr>
            </a:pPr>
            <a:r>
              <a:t>Raw moisture evaporates via upward conduction/radiation. Water vapor joins the descending gas stream.</a:t>
            </a:r>
          </a:p>
          <a:p>
            <a:pPr>
              <a:spcAft>
                <a:spcPts val="100"/>
              </a:spcAft>
              <a:defRPr b="1" sz="1100">
                <a:solidFill>
                  <a:srgbClr val="1B4478"/>
                </a:solidFill>
              </a:defRPr>
            </a:pPr>
            <a:r>
              <a:t>▶ 2. Pyrolysis Zone (Upper Bed, 450–900 K):</a:t>
            </a:r>
          </a:p>
          <a:p>
            <a:pPr>
              <a:spcAft>
                <a:spcPts val="600"/>
              </a:spcAft>
              <a:defRPr sz="1000">
                <a:solidFill>
                  <a:srgbClr val="3C3C3C"/>
                </a:solidFill>
              </a:defRPr>
            </a:pPr>
            <a:r>
              <a:t>Wood decomposes into char carbon, condensable bio-oil vapors, and non-condensable volatile gases (CO, CO2, H2, CH4).</a:t>
            </a:r>
          </a:p>
          <a:p>
            <a:pPr>
              <a:spcAft>
                <a:spcPts val="100"/>
              </a:spcAft>
              <a:defRPr b="1" sz="1100">
                <a:solidFill>
                  <a:srgbClr val="1B4478"/>
                </a:solidFill>
              </a:defRPr>
            </a:pPr>
            <a:r>
              <a:t>▶ 3. Flaming Throat Combustion (1200–1630 K):</a:t>
            </a:r>
          </a:p>
          <a:p>
            <a:pPr>
              <a:spcAft>
                <a:spcPts val="600"/>
              </a:spcAft>
              <a:defRPr sz="1000">
                <a:solidFill>
                  <a:srgbClr val="3C3C3C"/>
                </a:solidFill>
              </a:defRPr>
            </a:pPr>
            <a:r>
              <a:t>Injected air combusts volatile vapors and partial char. Generates intense peak temperatures that thermally crack organic tars.</a:t>
            </a:r>
          </a:p>
          <a:p>
            <a:pPr>
              <a:spcAft>
                <a:spcPts val="100"/>
              </a:spcAft>
              <a:defRPr b="1" sz="1100">
                <a:solidFill>
                  <a:srgbClr val="1B4478"/>
                </a:solidFill>
              </a:defRPr>
            </a:pPr>
            <a:r>
              <a:t>▶ 4. Diverging Reduction Hearth (900–1600 K):</a:t>
            </a:r>
          </a:p>
          <a:p>
            <a:pPr>
              <a:spcAft>
                <a:spcPts val="600"/>
              </a:spcAft>
              <a:defRPr sz="1000">
                <a:solidFill>
                  <a:srgbClr val="3C3C3C"/>
                </a:solidFill>
              </a:defRPr>
            </a:pPr>
            <a:r>
              <a:t>Endothermic heterogeneous reactions (Boudouard, water-gas) consume char and synthesize fuel gas (CO, H2). Primary modeling domain.</a:t>
            </a:r>
          </a:p>
          <a:p>
            <a:pPr>
              <a:spcAft>
                <a:spcPts val="100"/>
              </a:spcAft>
              <a:defRPr b="1" sz="1100">
                <a:solidFill>
                  <a:srgbClr val="1B4478"/>
                </a:solidFill>
              </a:defRPr>
            </a:pPr>
            <a:r>
              <a:t>▶ 5. Grate &amp; Syngas Extraction (Bottom):</a:t>
            </a:r>
          </a:p>
          <a:p>
            <a:pPr>
              <a:spcAft>
                <a:spcPts val="600"/>
              </a:spcAft>
              <a:defRPr sz="1000">
                <a:solidFill>
                  <a:srgbClr val="3C3C3C"/>
                </a:solidFill>
              </a:defRPr>
            </a:pPr>
            <a:r>
              <a:t>Ash and residual char drop through the grate; syngas is extracted at ~1150 K into the gas cleaning cyclone.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FEEDSTOCK PROPERTIES (TABLES 1 &amp; 2)</a:t>
            </a:r>
          </a:p>
          <a:p>
            <a:pPr>
              <a:defRPr sz="2200" b="1">
                <a:solidFill>
                  <a:srgbClr val="1B4478"/>
                </a:solidFill>
              </a:defRPr>
            </a:pPr>
            <a:r>
              <a:t>Feedstock Characterization: Sri Lankan Rubber Wood</a:t>
            </a:r>
          </a:p>
        </p:txBody>
      </p:sp>
      <p:pic>
        <p:nvPicPr>
          <p:cNvPr id="3" name="Picture 2" descr="fig01_feedstock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3520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029200"/>
            <a:ext cx="10728655" cy="1280160"/>
          </a:xfrm>
          <a:prstGeom prst="roundRect">
            <a:avLst/>
          </a:prstGeom>
          <a:solidFill>
            <a:srgbClr val="EEF2F6"/>
          </a:solidFill>
          <a:ln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100">
                <a:solidFill>
                  <a:srgbClr val="1B4478"/>
                </a:solidFill>
              </a:defRPr>
            </a:pPr>
            <a:r>
              <a:t>Key Analytical Takeaways (Jayah et al., 2003):</a:t>
            </a:r>
          </a:p>
          <a:p>
            <a:pPr>
              <a:defRPr sz="1000">
                <a:solidFill>
                  <a:srgbClr val="282828"/>
                </a:solidFill>
              </a:defRPr>
            </a:pPr>
            <a:r>
              <a:t>• High Volatiles (80.1% VM): Drives substantial gasification in the upper bed; requires intense throat oxidation to avoid tar escape.</a:t>
            </a:r>
            <a:br/>
            <a:r>
              <a:t>• Low Ash Content (0.7%): Minimizes grate clinkering and particulate loading, ensuring smooth continuous gravity descent.</a:t>
            </a:r>
            <a:br/>
            <a:r>
              <a:t>• High Energy Content (HHV 19.60 MJ/kg dry, LHV 18.17 MJ/kg dry): Provides robust thermochemical driving potential for 80 kWth output.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MATHEMATICAL FORMULATION</a:t>
            </a:r>
          </a:p>
          <a:p>
            <a:pPr>
              <a:defRPr sz="2200" b="1">
                <a:solidFill>
                  <a:srgbClr val="1B4478"/>
                </a:solidFill>
              </a:defRPr>
            </a:pPr>
            <a:r>
              <a:t>Mechanistic Governing Equations: Conservation Laws &amp; Heat Exchange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663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B4478"/>
                </a:solidFill>
              </a:defRPr>
            </a:pPr>
            <a:r>
              <a:t>1. Species &amp; Solid Mass Conservation</a:t>
            </a:r>
          </a:p>
          <a:p>
            <a:pPr>
              <a:spcAft>
                <a:spcPts val="200"/>
              </a:spcAft>
              <a:defRPr b="1" sz="1100">
                <a:solidFill>
                  <a:srgbClr val="D95F02"/>
                </a:solidFill>
              </a:defRPr>
            </a:pPr>
            <a:r>
              <a:t>• Gas Species Molar Continuity:</a:t>
            </a:r>
          </a:p>
          <a:p>
            <a:pPr>
              <a:spcAft>
                <a:spcPts val="800"/>
              </a:spcAft>
              <a:defRPr sz="1000">
                <a:solidFill>
                  <a:srgbClr val="282828"/>
                </a:solidFill>
              </a:defRPr>
            </a:pPr>
            <a:r>
              <a:t>dF_i / dz = A(z) ∑ ν_ij r_j</a:t>
            </a:r>
            <a:br/>
            <a:r>
              <a:t>where A(z) is the diverging cross-sectional area:</a:t>
            </a:r>
            <a:br/>
            <a:r>
              <a:t>A(z) = (π/4) [D_th + 2z tan(θ)]²</a:t>
            </a:r>
          </a:p>
          <a:p>
            <a:pPr>
              <a:spcAft>
                <a:spcPts val="200"/>
              </a:spcAft>
              <a:defRPr b="1" sz="1100">
                <a:solidFill>
                  <a:srgbClr val="D95F02"/>
                </a:solidFill>
              </a:defRPr>
            </a:pPr>
            <a:r>
              <a:t>• Shrinking-Sphere Particle Shrinkage:</a:t>
            </a:r>
          </a:p>
          <a:p>
            <a:pPr>
              <a:spcAft>
                <a:spcPts val="800"/>
              </a:spcAft>
              <a:defRPr sz="1000">
                <a:solidFill>
                  <a:srgbClr val="282828"/>
                </a:solidFill>
              </a:defRPr>
            </a:pPr>
            <a:r>
              <a:t>dd_p / dz = - (2 M_C R_C) / (ρ_char u_s)</a:t>
            </a:r>
            <a:br/>
            <a:r>
              <a:t>where u_s is solid downward velocity and R_C is the total carbon consumption rate (mol/m³·s).</a:t>
            </a:r>
          </a:p>
          <a:p>
            <a:pPr>
              <a:spcAft>
                <a:spcPts val="200"/>
              </a:spcAft>
              <a:defRPr b="1" sz="1100">
                <a:solidFill>
                  <a:srgbClr val="D95F02"/>
                </a:solidFill>
              </a:defRPr>
            </a:pPr>
            <a:r>
              <a:t>• Char Carbon Conversion Definition:</a:t>
            </a:r>
          </a:p>
          <a:p>
            <a:pPr>
              <a:spcAft>
                <a:spcPts val="800"/>
              </a:spcAft>
              <a:defRPr sz="1000">
                <a:solidFill>
                  <a:srgbClr val="282828"/>
                </a:solidFill>
              </a:defRPr>
            </a:pPr>
            <a:r>
              <a:t>X_C(z) = 1 - m_c(z)/m_c0 = 1 - (d_p(z)/d_p0)³</a:t>
            </a:r>
            <a:br/>
            <a:r>
              <a:t>Tracks local fractional carbon consumption along the bed.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1663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F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5F02"/>
                </a:solidFill>
              </a:defRPr>
            </a:pPr>
            <a:r>
              <a:t>2. Two-Phase Energy Conservation</a:t>
            </a:r>
          </a:p>
          <a:p>
            <a:pPr>
              <a:spcAft>
                <a:spcPts val="200"/>
              </a:spcAft>
              <a:defRPr b="1" sz="1100">
                <a:solidFill>
                  <a:srgbClr val="1B4478"/>
                </a:solidFill>
              </a:defRPr>
            </a:pPr>
            <a:r>
              <a:t>• Gas Phase Energy Conservation:</a:t>
            </a:r>
          </a:p>
          <a:p>
            <a:pPr>
              <a:spcAft>
                <a:spcPts val="800"/>
              </a:spcAft>
              <a:defRPr sz="1000">
                <a:solidFill>
                  <a:srgbClr val="282828"/>
                </a:solidFill>
              </a:defRPr>
            </a:pPr>
            <a:r>
              <a:t>dT_g / dz = [1 / ∑ F_i C_p,i] [ h_gs a_v A(z)(T_s - T_g)</a:t>
            </a:r>
            <a:br/>
            <a:r>
              <a:t>- U_wall P(z)(T_g - T_∞) - A(z) r_wgs (-ΔH_wgs) ]</a:t>
            </a:r>
          </a:p>
          <a:p>
            <a:pPr>
              <a:spcAft>
                <a:spcPts val="200"/>
              </a:spcAft>
              <a:defRPr b="1" sz="1100">
                <a:solidFill>
                  <a:srgbClr val="1B4478"/>
                </a:solidFill>
              </a:defRPr>
            </a:pPr>
            <a:r>
              <a:t>• Solid Char Phase Energy Conservation:</a:t>
            </a:r>
          </a:p>
          <a:p>
            <a:pPr>
              <a:spcAft>
                <a:spcPts val="800"/>
              </a:spcAft>
              <a:defRPr sz="1000">
                <a:solidFill>
                  <a:srgbClr val="282828"/>
                </a:solidFill>
              </a:defRPr>
            </a:pPr>
            <a:r>
              <a:t>dT_s / dz = [1 / (m_c C_p,s)] [ h_gs a_v A(z)(T_g - T_s)</a:t>
            </a:r>
            <a:br/>
            <a:r>
              <a:t>- A(z) ∑ r_k (-ΔH_k) ]</a:t>
            </a:r>
            <a:br/>
            <a:r>
              <a:t>Directly couples heterogeneous reaction endothermic sinks.</a:t>
            </a:r>
          </a:p>
          <a:p>
            <a:pPr>
              <a:spcAft>
                <a:spcPts val="200"/>
              </a:spcAft>
              <a:defRPr b="1" sz="1100">
                <a:solidFill>
                  <a:srgbClr val="1B4478"/>
                </a:solidFill>
              </a:defRPr>
            </a:pPr>
            <a:r>
              <a:t>• Interphase Convection (Wakao Correlation):</a:t>
            </a:r>
          </a:p>
          <a:p>
            <a:pPr>
              <a:spcAft>
                <a:spcPts val="800"/>
              </a:spcAft>
              <a:defRPr sz="1000">
                <a:solidFill>
                  <a:srgbClr val="282828"/>
                </a:solidFill>
              </a:defRPr>
            </a:pPr>
            <a:r>
              <a:t>Nu = h_gs d_p / k_g = 2.0 + 1.1 Re_p^0.6 Pr^1/3</a:t>
            </a:r>
            <a:br/>
            <a:r>
              <a:t>Captures rapid gas-solid thermal equilibration in packed beds.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REACTION NETWORK</a:t>
            </a:r>
          </a:p>
          <a:p>
            <a:pPr>
              <a:defRPr sz="2200" b="1">
                <a:solidFill>
                  <a:srgbClr val="1B4478"/>
                </a:solidFill>
              </a:defRPr>
            </a:pPr>
            <a:r>
              <a:t>Gasification Chemistry &amp; Kinetic Formulations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1920240"/>
                <a:gridCol w="2011680"/>
                <a:gridCol w="1858975"/>
              </a:tblGrid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Reaction</a:t>
                      </a:r>
                    </a:p>
                  </a:txBody>
                  <a:tcPr>
                    <a:solidFill>
                      <a:srgbClr val="1B44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Stoichiometry</a:t>
                      </a:r>
                    </a:p>
                  </a:txBody>
                  <a:tcPr>
                    <a:solidFill>
                      <a:srgbClr val="1B44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Enthalpy ΔH°298</a:t>
                      </a:r>
                    </a:p>
                  </a:txBody>
                  <a:tcPr>
                    <a:solidFill>
                      <a:srgbClr val="1B44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Kinetic Model</a:t>
                      </a:r>
                    </a:p>
                  </a:txBody>
                  <a:tcPr>
                    <a:solidFill>
                      <a:srgbClr val="1B44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Role in Bed</a:t>
                      </a:r>
                    </a:p>
                  </a:txBody>
                  <a:tcPr>
                    <a:solidFill>
                      <a:srgbClr val="1B447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Boudouard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C(s) + CO2 ⇌ 2 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+172.6 kJ/mol (Endo)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Groeneveld Arrhenius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Primary CO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Water-Gas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C(s) + H2O ⇌ CO + H2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+131.4 kJ/mol (Endo)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Groeneveld Arrhenius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H2 &amp; CO fuel synthesis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Hydrogasification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C(s) + 2 H2 ⇌ CH4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-74.9 kJ/mol (Exo)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Empirical Equilibrium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Trace methane (1.15%)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Water-Gas Shift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CO + H2O ⇌ CO2 + H2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-41.2 kJ/mol (Exo)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Yoon et al. (1978)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Gas-phase equilibration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4572000"/>
            <a:ext cx="10728655" cy="1645920"/>
          </a:xfrm>
          <a:prstGeom prst="roundRect">
            <a:avLst/>
          </a:prstGeom>
          <a:solidFill>
            <a:srgbClr val="EEF2F6"/>
          </a:solidFill>
          <a:ln>
            <a:solidFill>
              <a:srgbClr val="D95F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00">
                <a:solidFill>
                  <a:srgbClr val="D95F02"/>
                </a:solidFill>
              </a:defRPr>
            </a:pPr>
            <a:r>
              <a:t>Intraparticle Pore Diffusion &amp; Effectiveness Factor (η):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• Thiele Modulus Formulation: Φ_k = (d_p / 6) √(k_k / D_eff), where D_eff = 2.0 × 10⁻⁶ m²/s.</a:t>
            </a:r>
            <a:br/>
            <a:r>
              <a:t>• Effectiveness Factor: η_k = (3 / Φ_k) [ 1 / tanh(Φ_k) - 1 / Φ_k ].</a:t>
            </a:r>
            <a:br/>
            <a:r>
              <a:t>• Physical Consequence: For large chips (d_p &gt; 3 cm), η drops below 0.45, meaning internal pore diffusion restricts over 55% of the theoretical intrinsic kinetic reaction potential. This proves mathematically why smaller wood chips yield superior syngas quality.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SPATIAL REDUCED-ORDER MODELING</a:t>
            </a:r>
          </a:p>
          <a:p>
            <a:pPr>
              <a:defRPr sz="2200" b="1">
                <a:solidFill>
                  <a:srgbClr val="1B4478"/>
                </a:solidFill>
              </a:defRPr>
            </a:pPr>
            <a:r>
              <a:t>Tier 2: 2D Axisymmetric Boundary-Conforming Spatial Transport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EEF2F6"/>
          </a:solidFill>
          <a:ln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B4478"/>
                </a:solidFill>
              </a:defRPr>
            </a:pPr>
            <a:r>
              <a:t>Coordinate Transformation &amp; TDMA Solver</a:t>
            </a:r>
          </a:p>
          <a:p>
            <a:pPr>
              <a:spcAft>
                <a:spcPts val="100"/>
              </a:spcAft>
              <a:defRPr b="1" sz="1100">
                <a:solidFill>
                  <a:srgbClr val="1B4478"/>
                </a:solidFill>
              </a:defRPr>
            </a:pPr>
            <a:r>
              <a:t>• Non-Orthogonal Mapping:</a:t>
            </a:r>
          </a:p>
          <a:p>
            <a:pPr>
              <a:spcAft>
                <a:spcPts val="700"/>
              </a:spcAft>
              <a:defRPr sz="1000">
                <a:solidFill>
                  <a:srgbClr val="282828"/>
                </a:solidFill>
              </a:defRPr>
            </a:pPr>
            <a:r>
              <a:t>The diverging conical boundary r ∈ [0, R(z)] is mapped to a computational unit cylinder η = r / R(z) ∈ [0, 1].</a:t>
            </a:r>
          </a:p>
          <a:p>
            <a:pPr>
              <a:spcAft>
                <a:spcPts val="100"/>
              </a:spcAft>
              <a:defRPr b="1" sz="1100">
                <a:solidFill>
                  <a:srgbClr val="1B4478"/>
                </a:solidFill>
              </a:defRPr>
            </a:pPr>
            <a:r>
              <a:t>• Transformed Radial Dispersion:</a:t>
            </a:r>
          </a:p>
          <a:p>
            <a:pPr>
              <a:spcAft>
                <a:spcPts val="700"/>
              </a:spcAft>
              <a:defRPr sz="1000">
                <a:solidFill>
                  <a:srgbClr val="282828"/>
                </a:solidFill>
              </a:defRPr>
            </a:pPr>
            <a:r>
              <a:t>ρ C_p u_g (∂T_g / ∂z) = [k_eff / R(z)²] [∂²T_g/∂η² + (1/η)(∂T_g/∂η)] + S_T(η, z)</a:t>
            </a:r>
          </a:p>
          <a:p>
            <a:pPr>
              <a:spcAft>
                <a:spcPts val="100"/>
              </a:spcAft>
              <a:defRPr b="1" sz="1100">
                <a:solidFill>
                  <a:srgbClr val="1B4478"/>
                </a:solidFill>
              </a:defRPr>
            </a:pPr>
            <a:r>
              <a:t>• Unconditional Stability via TDMA:</a:t>
            </a:r>
          </a:p>
          <a:p>
            <a:pPr>
              <a:spcAft>
                <a:spcPts val="700"/>
              </a:spcAft>
              <a:defRPr sz="1000">
                <a:solidFill>
                  <a:srgbClr val="282828"/>
                </a:solidFill>
              </a:defRPr>
            </a:pPr>
            <a:r>
              <a:t>Replaced initial explicit Euler stepping with an implicit Tridiagonal Matrix Algorithm (Thomas algorithm). Completely eliminated Fo &gt; 0.5 checkerboard numerical oscillations.</a:t>
            </a:r>
          </a:p>
          <a:p>
            <a:pPr>
              <a:spcAft>
                <a:spcPts val="100"/>
              </a:spcAft>
              <a:defRPr b="1" sz="1100">
                <a:solidFill>
                  <a:srgbClr val="1B4478"/>
                </a:solidFill>
              </a:defRPr>
            </a:pPr>
            <a:r>
              <a:t>• Physical Robin Boundary Condition:</a:t>
            </a:r>
          </a:p>
          <a:p>
            <a:pPr>
              <a:spcAft>
                <a:spcPts val="700"/>
              </a:spcAft>
              <a:defRPr sz="1000">
                <a:solidFill>
                  <a:srgbClr val="282828"/>
                </a:solidFill>
              </a:defRPr>
            </a:pPr>
            <a:r>
              <a:t>- [k_eff / R(z)] (∂T_g / ∂η)|_η=1 = U_wall (T_w - T_∞)</a:t>
            </a:r>
            <a:br/>
            <a:r>
              <a:t>Calibrated to dissipate exactly 12.8% of fuel enthalpy across the uninsulated refractory walls.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F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5F02"/>
                </a:solidFill>
              </a:defRPr>
            </a:pPr>
            <a:r>
              <a:t>Scientific Transparency &amp; CFD Distinctions</a:t>
            </a:r>
          </a:p>
          <a:p>
            <a:pPr>
              <a:spcAft>
                <a:spcPts val="100"/>
              </a:spcAft>
              <a:defRPr b="1" sz="1100">
                <a:solidFill>
                  <a:srgbClr val="D95F02"/>
                </a:solidFill>
              </a:defRPr>
            </a:pPr>
            <a:r>
              <a:t>▶ Explicit Reduced-Order Status:</a:t>
            </a:r>
          </a:p>
          <a:p>
            <a:pPr>
              <a:spcAft>
                <a:spcPts val="700"/>
              </a:spcAft>
              <a:defRPr sz="1000">
                <a:solidFill>
                  <a:srgbClr val="282828"/>
                </a:solidFill>
              </a:defRPr>
            </a:pPr>
            <a:r>
              <a:t>This 2D model represents a rigorous boundary-conforming transport formulation, NOT an unvalidated full Navier-Stokes CFD simulation.</a:t>
            </a:r>
          </a:p>
          <a:p>
            <a:pPr>
              <a:spcAft>
                <a:spcPts val="100"/>
              </a:spcAft>
              <a:defRPr b="1" sz="1100">
                <a:solidFill>
                  <a:srgbClr val="D95F02"/>
                </a:solidFill>
              </a:defRPr>
            </a:pPr>
            <a:r>
              <a:t>▶ Refractory Domain Masking:</a:t>
            </a:r>
          </a:p>
          <a:p>
            <a:pPr>
              <a:spcAft>
                <a:spcPts val="700"/>
              </a:spcAft>
              <a:defRPr sz="1000">
                <a:solidFill>
                  <a:srgbClr val="282828"/>
                </a:solidFill>
              </a:defRPr>
            </a:pPr>
            <a:r>
              <a:t>Regions outside the expanding physical cone (r &gt; R(z)) are strictly masked with cross-hatched refractory shading to prevent false field extrapolation.</a:t>
            </a:r>
          </a:p>
          <a:p>
            <a:pPr>
              <a:spcAft>
                <a:spcPts val="100"/>
              </a:spcAft>
              <a:defRPr b="1" sz="1100">
                <a:solidFill>
                  <a:srgbClr val="D95F02"/>
                </a:solidFill>
              </a:defRPr>
            </a:pPr>
            <a:r>
              <a:t>▶ Effective Transport Properties:</a:t>
            </a:r>
          </a:p>
          <a:p>
            <a:pPr>
              <a:spcAft>
                <a:spcPts val="700"/>
              </a:spcAft>
              <a:defRPr sz="1000">
                <a:solidFill>
                  <a:srgbClr val="282828"/>
                </a:solidFill>
              </a:defRPr>
            </a:pPr>
            <a:r>
              <a:t>Effective thermal conductivity k_eff = 1.85 W/m·K and turbulent mass diffusivity D_r = 1.2 × 10⁻⁴ m²/s account for packed-bed tortuosity and gas macro-mixing.</a:t>
            </a:r>
          </a:p>
          <a:p>
            <a:pPr>
              <a:spcAft>
                <a:spcPts val="100"/>
              </a:spcAft>
              <a:defRPr b="1" sz="1100">
                <a:solidFill>
                  <a:srgbClr val="D95F02"/>
                </a:solidFill>
              </a:defRPr>
            </a:pPr>
            <a:r>
              <a:t>▶ Physical Insight Provided:</a:t>
            </a:r>
          </a:p>
          <a:p>
            <a:pPr>
              <a:spcAft>
                <a:spcPts val="700"/>
              </a:spcAft>
              <a:defRPr sz="1000">
                <a:solidFill>
                  <a:srgbClr val="282828"/>
                </a:solidFill>
              </a:defRPr>
            </a:pPr>
            <a:r>
              <a:t>Quantifies the core-to-wall temperature gradient (ΔT = 36.5 K at 22 cm) and explains why center-line gasification rates outpace wall kinetics.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SIMULATION RESULTS</a:t>
            </a:r>
          </a:p>
          <a:p>
            <a:pPr>
              <a:defRPr sz="2200" b="1">
                <a:solidFill>
                  <a:srgbClr val="1B4478"/>
                </a:solidFill>
              </a:defRPr>
            </a:pPr>
            <a:r>
              <a:t>1D Axial Species Mole Fraction Profiles along Hearth</a:t>
            </a:r>
          </a:p>
        </p:txBody>
      </p:sp>
      <p:pic>
        <p:nvPicPr>
          <p:cNvPr id="3" name="Picture 2" descr="fig02_species_distributions_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943600" cy="5120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0" y="1280160"/>
            <a:ext cx="4572000" cy="5120640"/>
          </a:xfrm>
          <a:prstGeom prst="roundRect">
            <a:avLst/>
          </a:prstGeom>
          <a:solidFill>
            <a:srgbClr val="EEF2F6"/>
          </a:solidFill>
          <a:ln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0" y="146304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B4478"/>
                </a:solidFill>
              </a:defRPr>
            </a:pPr>
            <a:r>
              <a:t>Chemical Evolution Analysis (Fig. 2)</a:t>
            </a:r>
          </a:p>
          <a:p>
            <a:pPr>
              <a:spcAft>
                <a:spcPts val="700"/>
              </a:spcAft>
              <a:defRPr sz="1000">
                <a:solidFill>
                  <a:srgbClr val="282828"/>
                </a:solidFill>
              </a:defRPr>
            </a:pPr>
            <a:r>
              <a:t>• Dry vs. Wet Bases Defined: Panel (a) presents dry volume fractions (H2O-free); Panel (b) includes steam to trace actual water-gas conversion.</a:t>
            </a:r>
          </a:p>
          <a:p>
            <a:pPr>
              <a:spcAft>
                <a:spcPts val="700"/>
              </a:spcAft>
              <a:defRPr sz="1000">
                <a:solidFill>
                  <a:srgbClr val="282828"/>
                </a:solidFill>
              </a:defRPr>
            </a:pPr>
            <a:r>
              <a:t>• Rapid Initial Gasification (0–8 cm): CO climbs from 9.9% to 16.5% and H2 from 7.6% to 14.2% within the first 8 cm, driven by high bed temperatures (&gt;1400 K).</a:t>
            </a:r>
          </a:p>
          <a:p>
            <a:pPr>
              <a:spcAft>
                <a:spcPts val="700"/>
              </a:spcAft>
              <a:defRPr sz="1000">
                <a:solidFill>
                  <a:srgbClr val="282828"/>
                </a:solidFill>
              </a:defRPr>
            </a:pPr>
            <a:r>
              <a:t>• Steam Consumption: H2O drops from 24.9% entering the throat down to 15.2% at the 22 cm exit, demonstrating that moisture actively fuels hydrogen production.</a:t>
            </a:r>
          </a:p>
          <a:p>
            <a:pPr>
              <a:spcAft>
                <a:spcPts val="700"/>
              </a:spcAft>
              <a:defRPr sz="1000">
                <a:solidFill>
                  <a:srgbClr val="282828"/>
                </a:solidFill>
              </a:defRPr>
            </a:pPr>
            <a:r>
              <a:t>• CO2 Reduction: CO2 decays from 15.6% to 11.0% via the endothermic Boudouard reaction (C + CO2 → 2 CO).</a:t>
            </a:r>
          </a:p>
          <a:p>
            <a:pPr>
              <a:spcAft>
                <a:spcPts val="700"/>
              </a:spcAft>
              <a:defRPr sz="1000">
                <a:solidFill>
                  <a:srgbClr val="282828"/>
                </a:solidFill>
              </a:defRPr>
            </a:pPr>
            <a:r>
              <a:t>• Asymptotic Freezing (z &gt; 15 cm): As bed temperatures fall below 1200 K, kinetic rates drop by an order of magnitude; species curves flatten as syngas reaches frozen composition.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MASS BALANCE &amp; HETEROGENEOUS DYNAMICS</a:t>
            </a:r>
          </a:p>
          <a:p>
            <a:pPr>
              <a:defRPr sz="2200" b="1">
                <a:solidFill>
                  <a:srgbClr val="1B4478"/>
                </a:solidFill>
              </a:defRPr>
            </a:pPr>
            <a:r>
              <a:t>Char Carbon Conversion &amp; Particle Shrinkage</a:t>
            </a:r>
          </a:p>
        </p:txBody>
      </p:sp>
      <p:pic>
        <p:nvPicPr>
          <p:cNvPr id="3" name="Picture 2" descr="fig04_char_conversion_and_shrin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400800" cy="4389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06640" y="1371600"/>
            <a:ext cx="40233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F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1554480"/>
            <a:ext cx="3657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5F02"/>
                </a:solidFill>
              </a:defRPr>
            </a:pPr>
            <a:r>
              <a:t>Shrinking-Sphere Dynamics</a:t>
            </a:r>
          </a:p>
          <a:p>
            <a:pPr>
              <a:spcAft>
                <a:spcPts val="200"/>
              </a:spcAft>
              <a:defRPr b="1" sz="1100">
                <a:solidFill>
                  <a:srgbClr val="1B4478"/>
                </a:solidFill>
              </a:defRPr>
            </a:pPr>
            <a:r>
              <a:t>▶ 71.91% Carbon Conversion at Exit:</a:t>
            </a:r>
          </a:p>
          <a:p>
            <a:pPr>
              <a:spcAft>
                <a:spcPts val="800"/>
              </a:spcAft>
              <a:defRPr sz="1000">
                <a:solidFill>
                  <a:srgbClr val="282828"/>
                </a:solidFill>
              </a:defRPr>
            </a:pPr>
            <a:r>
              <a:t>Under nominal 22 cm hearth operation, char carbon conversion reaches 71.91%. The remaining 28% unreacted char drops onto the bottom grate.</a:t>
            </a:r>
          </a:p>
          <a:p>
            <a:pPr>
              <a:spcAft>
                <a:spcPts val="200"/>
              </a:spcAft>
              <a:defRPr b="1" sz="1100">
                <a:solidFill>
                  <a:srgbClr val="1B4478"/>
                </a:solidFill>
              </a:defRPr>
            </a:pPr>
            <a:r>
              <a:t>▶ 34.4% Diameter Reduction:</a:t>
            </a:r>
          </a:p>
          <a:p>
            <a:pPr>
              <a:spcAft>
                <a:spcPts val="800"/>
              </a:spcAft>
              <a:defRPr sz="1000">
                <a:solidFill>
                  <a:srgbClr val="282828"/>
                </a:solidFill>
              </a:defRPr>
            </a:pPr>
            <a:r>
              <a:t>Particle diameter shrinks from 2.50 cm down to 1.64 cm (65.6% of initial size), corresponding to a 71.9% reduction in particle volume.</a:t>
            </a:r>
          </a:p>
          <a:p>
            <a:pPr>
              <a:spcAft>
                <a:spcPts val="200"/>
              </a:spcAft>
              <a:defRPr b="1" sz="1100">
                <a:solidFill>
                  <a:srgbClr val="1B4478"/>
                </a:solidFill>
              </a:defRPr>
            </a:pPr>
            <a:r>
              <a:t>▶ Shrinking-Core Verification:</a:t>
            </a:r>
          </a:p>
          <a:p>
            <a:pPr>
              <a:spcAft>
                <a:spcPts val="800"/>
              </a:spcAft>
              <a:defRPr sz="1000">
                <a:solidFill>
                  <a:srgbClr val="282828"/>
                </a:solidFill>
              </a:defRPr>
            </a:pPr>
            <a:r>
              <a:t>Confirms adherence to the shrinking spherical particle equation; particle velocity decreases as hearth area diverges downstream.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THERMAL PERFORMANCE</a:t>
            </a:r>
          </a:p>
          <a:p>
            <a:pPr>
              <a:defRPr sz="2200" b="1">
                <a:solidFill>
                  <a:srgbClr val="1B4478"/>
                </a:solidFill>
              </a:defRPr>
            </a:pPr>
            <a:r>
              <a:t>Axial &amp; 2D Temperature Distributions with Jayah Fig. 5 Validation</a:t>
            </a:r>
          </a:p>
        </p:txBody>
      </p:sp>
      <p:pic>
        <p:nvPicPr>
          <p:cNvPr id="3" name="Picture 2" descr="fig03_temperature_profiles_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303520" cy="5120640"/>
          </a:xfrm>
          <a:prstGeom prst="rect">
            <a:avLst/>
          </a:prstGeom>
        </p:spPr>
      </p:pic>
      <p:pic>
        <p:nvPicPr>
          <p:cNvPr id="4" name="Picture 3" descr="fig05_temperature_contours_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303520" cy="3017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4434840"/>
            <a:ext cx="5303520" cy="1965960"/>
          </a:xfrm>
          <a:prstGeom prst="roundRect">
            <a:avLst/>
          </a:prstGeom>
          <a:solidFill>
            <a:srgbClr val="EEF2F6"/>
          </a:solidFill>
          <a:ln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4526280"/>
            <a:ext cx="49377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100">
                <a:solidFill>
                  <a:srgbClr val="1B4478"/>
                </a:solidFill>
              </a:defRPr>
            </a:pPr>
            <a:r>
              <a:t>Thermal Field Observations:</a:t>
            </a:r>
          </a:p>
          <a:p>
            <a:pPr>
              <a:defRPr sz="950">
                <a:solidFill>
                  <a:srgbClr val="282828"/>
                </a:solidFill>
              </a:defRPr>
            </a:pPr>
            <a:r>
              <a:t>• Gas-Solid Non-Equilibrium: ΔT_gs = +320 K at throat plane; equilibrates within 10 cm due to high Wakao convective coupling (Nu ≈ 18).</a:t>
            </a:r>
            <a:br/>
            <a:r>
              <a:t>• Cooling Mechanisms: 72% of axial temperature drop is consumed by endothermic gasification enthalpies; 28% is lost through reactor walls.</a:t>
            </a:r>
            <a:br/>
            <a:r>
              <a:t>• 2D Isotherms: Core reaches 1358.8 K at 22 cm, while wall cools to 1322.3 K (ΔT = 36.5 K), matching uninsulated double-shell heat loss.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SPATIAL SPECIES DISTRIBUTION</a:t>
            </a:r>
          </a:p>
          <a:p>
            <a:pPr>
              <a:defRPr sz="2200" b="1">
                <a:solidFill>
                  <a:srgbClr val="1B4478"/>
                </a:solidFill>
              </a:defRPr>
            </a:pPr>
            <a:r>
              <a:t>2D Spatial Species Contours: Fuel Synthesis &amp; Oxidant Consumption</a:t>
            </a:r>
          </a:p>
        </p:txBody>
      </p:sp>
      <p:pic>
        <p:nvPicPr>
          <p:cNvPr id="3" name="Picture 2" descr="fig06_species_contours_fuel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212080" cy="5120640"/>
          </a:xfrm>
          <a:prstGeom prst="rect">
            <a:avLst/>
          </a:prstGeom>
        </p:spPr>
      </p:pic>
      <p:pic>
        <p:nvPicPr>
          <p:cNvPr id="4" name="Picture 3" descr="fig07_species_contours_oxidants_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2120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QUANTITATIVE VALIDATION</a:t>
            </a:r>
          </a:p>
          <a:p>
            <a:pPr>
              <a:defRPr sz="2200" b="1">
                <a:solidFill>
                  <a:srgbClr val="1B4478"/>
                </a:solidFill>
              </a:defRPr>
            </a:pPr>
            <a:r>
              <a:t>Model Validation: Baseline Calibration Run (Table 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295"/>
                <a:gridCol w="1645920"/>
                <a:gridCol w="1645920"/>
                <a:gridCol w="164592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Species</a:t>
                      </a:r>
                    </a:p>
                  </a:txBody>
                  <a:tcPr>
                    <a:solidFill>
                      <a:srgbClr val="1B44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Measured (vol%)</a:t>
                      </a:r>
                    </a:p>
                  </a:txBody>
                  <a:tcPr>
                    <a:solidFill>
                      <a:srgbClr val="1B44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Simulated (vol%)</a:t>
                      </a:r>
                    </a:p>
                  </a:txBody>
                  <a:tcPr>
                    <a:solidFill>
                      <a:srgbClr val="1B44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Abs Error (%)</a:t>
                      </a:r>
                    </a:p>
                  </a:txBody>
                  <a:tcPr>
                    <a:solidFill>
                      <a:srgbClr val="1B44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Rel Error (%)</a:t>
                      </a:r>
                    </a:p>
                  </a:txBody>
                  <a:tcPr>
                    <a:solidFill>
                      <a:srgbClr val="1B44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Validation Status</a:t>
                      </a:r>
                    </a:p>
                  </a:txBody>
                  <a:tcPr>
                    <a:solidFill>
                      <a:srgbClr val="1B447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Carbon Monoxide (CO)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19.80 %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19.66 %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0.14 %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0.71 %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B9E77"/>
                          </a:solidFill>
                        </a:defRPr>
                      </a:pPr>
                      <a:r>
                        <a:t>Validated (High Fidelity)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Hydrogen (H2)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17.80 %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17.46 %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0.34 %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1.91 %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B9E77"/>
                          </a:solidFill>
                        </a:defRPr>
                      </a:pPr>
                      <a:r>
                        <a:t>Validated (High Fidelity)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Carbon Dioxide (CO2)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11.20 %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10.99 %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0.21 %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1.88 %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B9E77"/>
                          </a:solidFill>
                        </a:defRPr>
                      </a:pPr>
                      <a:r>
                        <a:t>Validated (High Fidelity)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Methane (CH4)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1.20 %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1.15 %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0.05 %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4.17 %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B9E77"/>
                          </a:solidFill>
                        </a:defRPr>
                      </a:pPr>
                      <a:r>
                        <a:t>Validated (Equilibrium)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Nitrogen (N2)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50.00 %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50.74 %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0.74 %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1.48 %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B9E77"/>
                          </a:solidFill>
                        </a:defRPr>
                      </a:pPr>
                      <a:r>
                        <a:t>Validated (Mass Balance)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4937760"/>
            <a:ext cx="10728655" cy="137160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D95F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200">
                <a:solidFill>
                  <a:srgbClr val="D95F02"/>
                </a:solidFill>
              </a:defRPr>
            </a:pPr>
            <a:r>
              <a:t>Baseline Calibration Statistical Summary: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• Mean Absolute Error (MAE): 1.03 vol% across all syngas constituents.</a:t>
            </a:r>
            <a:br/>
            <a:r>
              <a:t>• Root Mean Square Error (RMSE): 1.34 vol%, demonstrating exceptional agreement with Jayah et al. Table 5.</a:t>
            </a:r>
            <a:br/>
            <a:r>
              <a:t>• Syngas LHV Agreement: Simulated 4.78 MJ/Nm³ vs. Measured 4.81 MJ/Nm³ (relative difference &lt; 0.6%).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PARITY ANALYSIS (TABLE 3)</a:t>
            </a:r>
          </a:p>
          <a:p>
            <a:pPr>
              <a:defRPr sz="2200" b="1">
                <a:solidFill>
                  <a:srgbClr val="1B4478"/>
                </a:solidFill>
              </a:defRPr>
            </a:pPr>
            <a:r>
              <a:t>Statistical Parity Evaluation Across Nine Experimental Runs</a:t>
            </a:r>
          </a:p>
        </p:txBody>
      </p:sp>
      <p:pic>
        <p:nvPicPr>
          <p:cNvPr id="3" name="Picture 2" descr="fig09_validation_parity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943600" cy="5120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0" y="1280160"/>
            <a:ext cx="45720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0" y="146304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B4478"/>
                </a:solidFill>
              </a:defRPr>
            </a:pPr>
            <a:r>
              <a:t>Statistical Metrics (9 Runs)</a:t>
            </a:r>
          </a:p>
          <a:p>
            <a:pPr>
              <a:spcAft>
                <a:spcPts val="100"/>
              </a:spcAft>
              <a:defRPr b="1" sz="1100">
                <a:solidFill>
                  <a:srgbClr val="D95F02"/>
                </a:solidFill>
              </a:defRPr>
            </a:pPr>
            <a:r>
              <a:t>• Carbon Monoxide (CO):</a:t>
            </a:r>
          </a:p>
          <a:p>
            <a:pPr>
              <a:spcAft>
                <a:spcPts val="600"/>
              </a:spcAft>
              <a:defRPr sz="950">
                <a:solidFill>
                  <a:srgbClr val="282828"/>
                </a:solidFill>
              </a:defRPr>
            </a:pPr>
            <a:r>
              <a:t>MAE = 1.37%, RMSE = 1.54%, R² = 0.81</a:t>
            </a:r>
            <a:br/>
            <a:r>
              <a:t>All 9 runs fall strictly within ±10% error envelope.</a:t>
            </a:r>
          </a:p>
          <a:p>
            <a:pPr>
              <a:spcAft>
                <a:spcPts val="100"/>
              </a:spcAft>
              <a:defRPr b="1" sz="1100">
                <a:solidFill>
                  <a:srgbClr val="D95F02"/>
                </a:solidFill>
              </a:defRPr>
            </a:pPr>
            <a:r>
              <a:t>• Carbon Dioxide (CO2):</a:t>
            </a:r>
          </a:p>
          <a:p>
            <a:pPr>
              <a:spcAft>
                <a:spcPts val="600"/>
              </a:spcAft>
              <a:defRPr sz="950">
                <a:solidFill>
                  <a:srgbClr val="282828"/>
                </a:solidFill>
              </a:defRPr>
            </a:pPr>
            <a:r>
              <a:t>MAE = 1.14%, RMSE = 1.45%, R² = 0.72</a:t>
            </a:r>
            <a:br/>
            <a:r>
              <a:t>Faithfully captures endothermic consumption.</a:t>
            </a:r>
          </a:p>
          <a:p>
            <a:pPr>
              <a:spcAft>
                <a:spcPts val="100"/>
              </a:spcAft>
              <a:defRPr b="1" sz="1100">
                <a:solidFill>
                  <a:srgbClr val="D95F02"/>
                </a:solidFill>
              </a:defRPr>
            </a:pPr>
            <a:r>
              <a:t>• Methane (CH4):</a:t>
            </a:r>
          </a:p>
          <a:p>
            <a:pPr>
              <a:spcAft>
                <a:spcPts val="600"/>
              </a:spcAft>
              <a:defRPr sz="950">
                <a:solidFill>
                  <a:srgbClr val="282828"/>
                </a:solidFill>
              </a:defRPr>
            </a:pPr>
            <a:r>
              <a:t>MAE = 0.12%, RMSE = 0.15%, R² = 0.79</a:t>
            </a:r>
            <a:br/>
            <a:r>
              <a:t>Accurately bounded between 1.0% and 1.3%.</a:t>
            </a:r>
          </a:p>
          <a:p>
            <a:pPr>
              <a:spcAft>
                <a:spcPts val="100"/>
              </a:spcAft>
              <a:defRPr b="1" sz="1100">
                <a:solidFill>
                  <a:srgbClr val="D95F02"/>
                </a:solidFill>
              </a:defRPr>
            </a:pPr>
            <a:r>
              <a:t>• Hydrogen (H2):</a:t>
            </a:r>
          </a:p>
          <a:p>
            <a:pPr>
              <a:spcAft>
                <a:spcPts val="600"/>
              </a:spcAft>
              <a:defRPr sz="950">
                <a:solidFill>
                  <a:srgbClr val="282828"/>
                </a:solidFill>
              </a:defRPr>
            </a:pPr>
            <a:r>
              <a:t>MAE = 2.77%, RMSE = 3.07%, R² = 0.64</a:t>
            </a:r>
            <a:br/>
            <a:r>
              <a:t>Slight underprediction for 5.5 cm chips due to unmodeled tar cracking volatiles.</a:t>
            </a:r>
          </a:p>
          <a:p>
            <a:pPr>
              <a:spcAft>
                <a:spcPts val="100"/>
              </a:spcAft>
              <a:defRPr b="1" sz="1100">
                <a:solidFill>
                  <a:srgbClr val="D95F02"/>
                </a:solidFill>
              </a:defRPr>
            </a:pPr>
            <a:r>
              <a:t>• Chip Size Stratification:</a:t>
            </a:r>
          </a:p>
          <a:p>
            <a:pPr>
              <a:spcAft>
                <a:spcPts val="600"/>
              </a:spcAft>
              <a:defRPr sz="950">
                <a:solidFill>
                  <a:srgbClr val="282828"/>
                </a:solidFill>
              </a:defRPr>
            </a:pPr>
            <a:r>
              <a:t>Blue circles (3.3 cm), green squares (4.4 cm), and orange triangles (5.5 cm) confirm accurate sizing physics.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CASE COMPARISON (TABLE 3)</a:t>
            </a:r>
          </a:p>
          <a:p>
            <a:pPr>
              <a:defRPr sz="2200" b="1">
                <a:solidFill>
                  <a:srgbClr val="1B4478"/>
                </a:solidFill>
              </a:defRPr>
            </a:pPr>
            <a:r>
              <a:t>Comparison of Principal Operating Cases: LHV &amp; Gas Flow Rate</a:t>
            </a:r>
          </a:p>
        </p:txBody>
      </p:sp>
      <p:pic>
        <p:nvPicPr>
          <p:cNvPr id="3" name="Picture 2" descr="fig10_principal_case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315200" cy="5120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0" y="1280160"/>
            <a:ext cx="3200400" cy="5120640"/>
          </a:xfrm>
          <a:prstGeom prst="roundRect">
            <a:avLst/>
          </a:prstGeom>
          <a:solidFill>
            <a:srgbClr val="EEF2F6"/>
          </a:solidFill>
          <a:ln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66760" y="1463040"/>
            <a:ext cx="2926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4478"/>
                </a:solidFill>
              </a:defRPr>
            </a:pPr>
            <a:r>
              <a:t>Operational Insights</a:t>
            </a:r>
          </a:p>
          <a:p>
            <a:pPr>
              <a:spcAft>
                <a:spcPts val="100"/>
              </a:spcAft>
              <a:defRPr b="1" sz="1050">
                <a:solidFill>
                  <a:srgbClr val="D95F02"/>
                </a:solidFill>
              </a:defRPr>
            </a:pPr>
            <a:r>
              <a:t>▶ Syngas Heating Value:</a:t>
            </a:r>
          </a:p>
          <a:p>
            <a:pPr>
              <a:spcAft>
                <a:spcPts val="700"/>
              </a:spcAft>
              <a:defRPr sz="950">
                <a:solidFill>
                  <a:srgbClr val="282828"/>
                </a:solidFill>
              </a:defRPr>
            </a:pPr>
            <a:r>
              <a:t>Simulated LHV (4.19–5.21 MJ/Nm³) closely tracks measured LHV (4.16–4.92 MJ/Nm³), confirming higher energy density for smaller chips.</a:t>
            </a:r>
          </a:p>
          <a:p>
            <a:pPr>
              <a:spcAft>
                <a:spcPts val="100"/>
              </a:spcAft>
              <a:defRPr b="1" sz="1050">
                <a:solidFill>
                  <a:srgbClr val="D95F02"/>
                </a:solidFill>
              </a:defRPr>
            </a:pPr>
            <a:r>
              <a:t>▶ Orifice vs. Standard Flow:</a:t>
            </a:r>
          </a:p>
          <a:p>
            <a:pPr>
              <a:spcAft>
                <a:spcPts val="700"/>
              </a:spcAft>
              <a:defRPr sz="950">
                <a:solidFill>
                  <a:srgbClr val="282828"/>
                </a:solidFill>
              </a:defRPr>
            </a:pPr>
            <a:r>
              <a:t>Measured flow (51.9–63.5 m³/h) was recorded at orifice temperature (~310 K) with moisture; simulated flow (44.4–50.3 Nm³/h) is at STP (273 K, dry).</a:t>
            </a:r>
          </a:p>
          <a:p>
            <a:pPr>
              <a:spcAft>
                <a:spcPts val="100"/>
              </a:spcAft>
              <a:defRPr b="1" sz="1050">
                <a:solidFill>
                  <a:srgbClr val="D95F02"/>
                </a:solidFill>
              </a:defRPr>
            </a:pPr>
            <a:r>
              <a:t>▶ Thermal Expansion Reconciliation:</a:t>
            </a:r>
          </a:p>
          <a:p>
            <a:pPr>
              <a:spcAft>
                <a:spcPts val="700"/>
              </a:spcAft>
              <a:defRPr sz="950">
                <a:solidFill>
                  <a:srgbClr val="282828"/>
                </a:solidFill>
              </a:defRPr>
            </a:pPr>
            <a:r>
              <a:t>The ~22% volumetric difference is completely explained by ideal gas thermal expansion and steam vapor volume.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PARAMETRIC OPTIMIZATION</a:t>
            </a:r>
          </a:p>
          <a:p>
            <a:pPr>
              <a:defRPr sz="2200" b="1">
                <a:solidFill>
                  <a:srgbClr val="1B4478"/>
                </a:solidFill>
              </a:defRPr>
            </a:pPr>
            <a:r>
              <a:t>Parametric Sensitivity Dashboard &amp; Optimum Sizing (Fig. 6 Benchmark)</a:t>
            </a:r>
          </a:p>
        </p:txBody>
      </p:sp>
      <p:pic>
        <p:nvPicPr>
          <p:cNvPr id="3" name="Picture 2" descr="fig08_parametric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858000" cy="5120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72400" y="1280160"/>
            <a:ext cx="3657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F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46304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5F02"/>
                </a:solidFill>
              </a:defRPr>
            </a:pPr>
            <a:r>
              <a:t>Key Design Conclusions</a:t>
            </a:r>
          </a:p>
          <a:p>
            <a:pPr>
              <a:spcAft>
                <a:spcPts val="100"/>
              </a:spcAft>
              <a:defRPr b="1" sz="1000">
                <a:solidFill>
                  <a:srgbClr val="1B4478"/>
                </a:solidFill>
              </a:defRPr>
            </a:pPr>
            <a:r>
              <a:t>• Optimal Hearth Length = 33 cm:</a:t>
            </a:r>
          </a:p>
          <a:p>
            <a:pPr>
              <a:spcAft>
                <a:spcPts val="500"/>
              </a:spcAft>
              <a:defRPr sz="900">
                <a:solidFill>
                  <a:srgbClr val="282828"/>
                </a:solidFill>
              </a:defRPr>
            </a:pPr>
            <a:r>
              <a:t>Extending the NERD hearth from 22 cm to 33 cm increases cold gas efficiency from 63.5% to 65.2% (+1.7 percentage points). Beyond 35 cm, beds cool below 1100 K and conversion ceases.</a:t>
            </a:r>
          </a:p>
          <a:p>
            <a:pPr>
              <a:spcAft>
                <a:spcPts val="100"/>
              </a:spcAft>
              <a:defRPr b="1" sz="1000">
                <a:solidFill>
                  <a:srgbClr val="1B4478"/>
                </a:solidFill>
              </a:defRPr>
            </a:pPr>
            <a:r>
              <a:t>• Wood Chip Sizing Rule:</a:t>
            </a:r>
          </a:p>
          <a:p>
            <a:pPr>
              <a:spcAft>
                <a:spcPts val="500"/>
              </a:spcAft>
              <a:defRPr sz="900">
                <a:solidFill>
                  <a:srgbClr val="282828"/>
                </a:solidFill>
              </a:defRPr>
            </a:pPr>
            <a:r>
              <a:t>1 cm chips achieve 70% efficiency in 18 cm; 5 cm chips plateau at 61.5% due to pore diffusion limits. Optimal industrial size: 2.5–3.5 cm.</a:t>
            </a:r>
          </a:p>
          <a:p>
            <a:pPr>
              <a:spcAft>
                <a:spcPts val="100"/>
              </a:spcAft>
              <a:defRPr b="1" sz="1000">
                <a:solidFill>
                  <a:srgbClr val="1B4478"/>
                </a:solidFill>
              </a:defRPr>
            </a:pPr>
            <a:r>
              <a:t>• Air-to-Fuel Ratio Window:</a:t>
            </a:r>
          </a:p>
          <a:p>
            <a:pPr>
              <a:spcAft>
                <a:spcPts val="500"/>
              </a:spcAft>
              <a:defRPr sz="900">
                <a:solidFill>
                  <a:srgbClr val="282828"/>
                </a:solidFill>
              </a:defRPr>
            </a:pPr>
            <a:r>
              <a:t>AFR = 2.0–2.15 kg/kg is ideal. Higher AFR dilutes syngas with N2 and burns CO/H2, dropping LHV below 4.1 MJ/Nm³.</a:t>
            </a:r>
          </a:p>
          <a:p>
            <a:pPr>
              <a:spcAft>
                <a:spcPts val="100"/>
              </a:spcAft>
              <a:defRPr b="1" sz="1000">
                <a:solidFill>
                  <a:srgbClr val="1B4478"/>
                </a:solidFill>
              </a:defRPr>
            </a:pPr>
            <a:r>
              <a:t>• Moisture Limit:</a:t>
            </a:r>
          </a:p>
          <a:p>
            <a:pPr>
              <a:spcAft>
                <a:spcPts val="500"/>
              </a:spcAft>
              <a:defRPr sz="900">
                <a:solidFill>
                  <a:srgbClr val="282828"/>
                </a:solidFill>
              </a:defRPr>
            </a:pPr>
            <a:r>
              <a:t>Moisture &gt; 15% d.b. imposes severe endothermic drying penalties, dropping exit temperatures.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CRITICAL APPRAISAL</a:t>
            </a:r>
          </a:p>
          <a:p>
            <a:pPr>
              <a:defRPr sz="2200" b="1">
                <a:solidFill>
                  <a:srgbClr val="1B4478"/>
                </a:solidFill>
              </a:defRPr>
            </a:pPr>
            <a:r>
              <a:t>Engineering Limitations &amp; Uncertainty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66360" cy="4846320"/>
          </a:xfrm>
          <a:prstGeom prst="roundRect">
            <a:avLst/>
          </a:prstGeom>
          <a:solidFill>
            <a:srgbClr val="EEF2F6"/>
          </a:solidFill>
          <a:ln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B4478"/>
                </a:solidFill>
              </a:defRPr>
            </a:pPr>
            <a:r>
              <a:t>Mathematical Model Limitations</a:t>
            </a:r>
          </a:p>
          <a:p>
            <a:pPr>
              <a:spcAft>
                <a:spcPts val="800"/>
              </a:spcAft>
              <a:defRPr sz="1050">
                <a:solidFill>
                  <a:srgbClr val="282828"/>
                </a:solidFill>
              </a:defRPr>
            </a:pPr>
            <a:r>
              <a:t>• Simplified Pyrolysis Boundary: Pyrolysis gas composition is prescribed from literature correlations rather than dynamic multi-step bio-oil decomposition kinetics.</a:t>
            </a:r>
          </a:p>
          <a:p>
            <a:pPr>
              <a:spcAft>
                <a:spcPts val="800"/>
              </a:spcAft>
              <a:defRPr sz="1050">
                <a:solidFill>
                  <a:srgbClr val="282828"/>
                </a:solidFill>
              </a:defRPr>
            </a:pPr>
            <a:r>
              <a:t>• Reduced-Order 2D Dispersion: Captures radial conduction and species diffusion but assumes parabolic axial velocity profiles without 3D Navier-Stokes turbulence.</a:t>
            </a:r>
          </a:p>
          <a:p>
            <a:pPr>
              <a:spcAft>
                <a:spcPts val="800"/>
              </a:spcAft>
              <a:defRPr sz="1050">
                <a:solidFill>
                  <a:srgbClr val="282828"/>
                </a:solidFill>
              </a:defRPr>
            </a:pPr>
            <a:r>
              <a:t>• Uniform Packed-Bed Porosity: Assumes uniform voidage ε = 0.40, neglecting wall channeling and local chip bridging that occur in physical reactors.</a:t>
            </a:r>
          </a:p>
          <a:p>
            <a:pPr>
              <a:spcAft>
                <a:spcPts val="800"/>
              </a:spcAft>
              <a:defRPr sz="1050">
                <a:solidFill>
                  <a:srgbClr val="282828"/>
                </a:solidFill>
              </a:defRPr>
            </a:pPr>
            <a:r>
              <a:t>• Secondary Tar Reforming: Assumes complete tar cracking in the flaming throat; trace residual tar reforming in the reduction bed is neglected.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1663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F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5F02"/>
                </a:solidFill>
              </a:defRPr>
            </a:pPr>
            <a:r>
              <a:t>Experimental Measurement Uncertainties</a:t>
            </a:r>
          </a:p>
          <a:p>
            <a:pPr>
              <a:spcAft>
                <a:spcPts val="800"/>
              </a:spcAft>
              <a:defRPr sz="1050">
                <a:solidFill>
                  <a:srgbClr val="282828"/>
                </a:solidFill>
              </a:defRPr>
            </a:pPr>
            <a:r>
              <a:t>▶ Thermocouple Radiation Errors: Unshielded ceramic thermocouples experience severe radiative cooling towards cooler reactor walls, reading 100–250 K below true gas temperatures.</a:t>
            </a:r>
          </a:p>
          <a:p>
            <a:pPr>
              <a:spcAft>
                <a:spcPts val="800"/>
              </a:spcAft>
              <a:defRPr sz="1050">
                <a:solidFill>
                  <a:srgbClr val="282828"/>
                </a:solidFill>
              </a:defRPr>
            </a:pPr>
            <a:r>
              <a:t>▶ Gas Sampling Condensation: Producer gas sampled via water bubblers may lose light water-soluble hydrocarbons and experience minor water-gas shift quenching.</a:t>
            </a:r>
          </a:p>
          <a:p>
            <a:pPr>
              <a:spcAft>
                <a:spcPts val="800"/>
              </a:spcAft>
              <a:defRPr sz="1050">
                <a:solidFill>
                  <a:srgbClr val="282828"/>
                </a:solidFill>
              </a:defRPr>
            </a:pPr>
            <a:r>
              <a:t>▶ Orifice Plate Temperature Calibration: Orifice flow measurements were conducted at fluctuating gas temperatures (~310–330 K) with uncalibrated moisture condensation.</a:t>
            </a:r>
          </a:p>
          <a:p>
            <a:pPr>
              <a:spcAft>
                <a:spcPts val="800"/>
              </a:spcAft>
              <a:defRPr sz="1050">
                <a:solidFill>
                  <a:srgbClr val="282828"/>
                </a:solidFill>
              </a:defRPr>
            </a:pPr>
            <a:r>
              <a:t>▶ Feed Rate Surges: Batch-loaded wood chip hoppers experience mechanical settling surges that cause ±5% transient fluctuations in local air-fuel ratio.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SUMMARY OF FINDINGS</a:t>
            </a:r>
          </a:p>
          <a:p>
            <a:pPr>
              <a:defRPr sz="2200" b="1">
                <a:solidFill>
                  <a:srgbClr val="1B4478"/>
                </a:solidFill>
              </a:defRPr>
            </a:pPr>
            <a:r>
              <a:t>Conclusions &amp; Engineering Recommendations for Industrial Tea Drying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663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800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1B4478"/>
                </a:solidFill>
              </a:defRPr>
            </a:pPr>
            <a:r>
              <a:t>1. Model Predictive Fidelity</a:t>
            </a:r>
          </a:p>
          <a:p>
            <a:pPr>
              <a:spcAft>
                <a:spcPts val="300"/>
              </a:spcAft>
              <a:defRPr sz="950">
                <a:solidFill>
                  <a:srgbClr val="282828"/>
                </a:solidFill>
              </a:defRPr>
            </a:pPr>
            <a:r>
              <a:t>• Baseline Calibration MAE = 1.03%, RMSE = 1.34% against Jayah Table 5.</a:t>
            </a:r>
          </a:p>
          <a:p>
            <a:pPr>
              <a:spcAft>
                <a:spcPts val="300"/>
              </a:spcAft>
              <a:defRPr sz="950">
                <a:solidFill>
                  <a:srgbClr val="282828"/>
                </a:solidFill>
              </a:defRPr>
            </a:pPr>
            <a:r>
              <a:t>• High correlation across 9 experimental runs (R² = 0.81 for CO, 0.79 for CH4).</a:t>
            </a:r>
          </a:p>
          <a:p>
            <a:pPr>
              <a:spcAft>
                <a:spcPts val="300"/>
              </a:spcAft>
              <a:defRPr sz="950">
                <a:solidFill>
                  <a:srgbClr val="282828"/>
                </a:solidFill>
              </a:defRPr>
            </a:pPr>
            <a:r>
              <a:t>• 100% mass and elemental balance conservation closure verified.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1663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F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08760"/>
            <a:ext cx="4800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D95F02"/>
                </a:solidFill>
              </a:defRPr>
            </a:pPr>
            <a:r>
              <a:t>2. Reactor Design Optimization</a:t>
            </a:r>
          </a:p>
          <a:p>
            <a:pPr>
              <a:spcAft>
                <a:spcPts val="300"/>
              </a:spcAft>
              <a:defRPr sz="950">
                <a:solidFill>
                  <a:srgbClr val="282828"/>
                </a:solidFill>
              </a:defRPr>
            </a:pPr>
            <a:r>
              <a:t>• Extending the NERD hearth from 22 cm to 33 cm raises cold gas efficiency to 65.2%.</a:t>
            </a:r>
          </a:p>
          <a:p>
            <a:pPr>
              <a:spcAft>
                <a:spcPts val="300"/>
              </a:spcAft>
              <a:defRPr sz="950">
                <a:solidFill>
                  <a:srgbClr val="282828"/>
                </a:solidFill>
              </a:defRPr>
            </a:pPr>
            <a:r>
              <a:t>• Optimal wood chip dimension identified as 2.5–3.5 cm to balance surface area and pore diffusion.</a:t>
            </a:r>
          </a:p>
          <a:p>
            <a:pPr>
              <a:spcAft>
                <a:spcPts val="300"/>
              </a:spcAft>
              <a:defRPr sz="950">
                <a:solidFill>
                  <a:srgbClr val="282828"/>
                </a:solidFill>
              </a:defRPr>
            </a:pPr>
            <a:r>
              <a:t>• Hearth divergence angle of 61° prevents bridging while maintaining adequate gas residence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663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9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4800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1B9E77"/>
                </a:solidFill>
              </a:defRPr>
            </a:pPr>
            <a:r>
              <a:t>3. Operational Guidelines for Tea Drying</a:t>
            </a:r>
          </a:p>
          <a:p>
            <a:pPr>
              <a:spcAft>
                <a:spcPts val="300"/>
              </a:spcAft>
              <a:defRPr sz="950">
                <a:solidFill>
                  <a:srgbClr val="282828"/>
                </a:solidFill>
              </a:defRPr>
            </a:pPr>
            <a:r>
              <a:t>• Maintain Air-to-Fuel Ratio at 2.05–2.15 kg air / kg dry fuel for peak syngas LHV (&gt;4.7 MJ/Nm³).</a:t>
            </a:r>
          </a:p>
          <a:p>
            <a:pPr>
              <a:spcAft>
                <a:spcPts val="300"/>
              </a:spcAft>
              <a:defRPr sz="950">
                <a:solidFill>
                  <a:srgbClr val="282828"/>
                </a:solidFill>
              </a:defRPr>
            </a:pPr>
            <a:r>
              <a:t>• Enforce strict feedstock pre-drying to keep wood moisture content &lt; 15% (dry basis).</a:t>
            </a:r>
          </a:p>
          <a:p>
            <a:pPr>
              <a:spcAft>
                <a:spcPts val="300"/>
              </a:spcAft>
              <a:defRPr sz="950">
                <a:solidFill>
                  <a:srgbClr val="282828"/>
                </a:solidFill>
              </a:defRPr>
            </a:pPr>
            <a:r>
              <a:t>• Utilize uninsulated double-shell cooling strategically to prevent refractory overheating while maintaining tar cracking.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1663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57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069080"/>
            <a:ext cx="4800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7570B3"/>
                </a:solidFill>
              </a:defRPr>
            </a:pPr>
            <a:r>
              <a:t>4. Recommended Future Research</a:t>
            </a:r>
          </a:p>
          <a:p>
            <a:pPr>
              <a:spcAft>
                <a:spcPts val="300"/>
              </a:spcAft>
              <a:defRPr sz="950">
                <a:solidFill>
                  <a:srgbClr val="282828"/>
                </a:solidFill>
              </a:defRPr>
            </a:pPr>
            <a:r>
              <a:t>• Couple multi-component tar cracking kinetics (benzene, naphthalene) to evaluate downstream heat-exchanger fouling.</a:t>
            </a:r>
          </a:p>
          <a:p>
            <a:pPr>
              <a:spcAft>
                <a:spcPts val="300"/>
              </a:spcAft>
              <a:defRPr sz="950">
                <a:solidFill>
                  <a:srgbClr val="282828"/>
                </a:solidFill>
              </a:defRPr>
            </a:pPr>
            <a:r>
              <a:t>• Develop Eulerian-Eulerian two-phase granular CFD models to resolve localized nozzle air jets.</a:t>
            </a:r>
          </a:p>
          <a:p>
            <a:pPr>
              <a:spcAft>
                <a:spcPts val="300"/>
              </a:spcAft>
              <a:defRPr sz="950">
                <a:solidFill>
                  <a:srgbClr val="282828"/>
                </a:solidFill>
              </a:defRPr>
            </a:pPr>
            <a:r>
              <a:t>• Formulate dynamic transient models to simulate load-following during tea dryer shut-down/start-up cycles.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5F02"/>
                </a:solidFill>
              </a:defRPr>
            </a:pPr>
            <a:r>
              <a:t>TECHNICAL CLASSROOM DEFENSE</a:t>
            </a:r>
          </a:p>
          <a:p>
            <a:pPr>
              <a:spcAft>
                <a:spcPts val="2000"/>
              </a:spcAft>
              <a:defRPr sz="3200" b="1">
                <a:solidFill>
                  <a:srgbClr val="FFFFFF"/>
                </a:solidFill>
              </a:defRPr>
            </a:pPr>
            <a:r>
              <a:t>Thank You. Questions &amp; Discussion</a:t>
            </a:r>
          </a:p>
          <a:p>
            <a:pPr>
              <a:defRPr sz="1100">
                <a:solidFill>
                  <a:srgbClr val="D2E1F5"/>
                </a:solidFill>
              </a:defRPr>
            </a:pPr>
            <a:r>
              <a:t>Primary Benchmark Reference:</a:t>
            </a:r>
            <a:br/>
            <a:r>
              <a:t>Jayah, T. H., Aye, L., Fuller, R. J., &amp; Stewart, D. F. (2003). Computer simulation of a downdraft wood gasifier for tea drying. Biomass and Bioenergy, 25(5), 459–469.</a:t>
            </a:r>
            <a:br/>
            <a:br/>
            <a:r>
              <a:t>Key Theoretical References:</a:t>
            </a:r>
            <a:br/>
            <a:r>
              <a:t>• Groeneveld, M. J., &amp; van Swaaij, W. P. M. (1980). Gasification of char particles with CO2 and H2O. Chem. Eng. Sci., 35, 307–313.</a:t>
            </a:r>
            <a:br/>
            <a:r>
              <a:t>• Wakao, N., &amp; Kaguei, S. (1982). Heat and Mass Transfer in Packed Beds. Gordon &amp; Breach Science Publishers.</a:t>
            </a:r>
            <a:br/>
            <a:r>
              <a:t>• Yoon, H., Wei, J., &amp; Denn, M. M. (1978). Moving-bed coal gasification reactors. AIChE J., 24, 885–903.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
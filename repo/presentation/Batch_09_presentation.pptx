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282c68-0003-5813-c044-eaae30afbaad}">
          <p14:sldIdLst>
            <p14:sldId id="256"/>
            <p14:sldId id="257"/>
          </p14:sldIdLst>
        </p14:section>
        <p14:section name="Setup" id="{4bba1498-bc04-dcf4-a4b7-27538fd1d2d6}">
          <p14:sldIdLst>
            <p14:sldId id="258"/>
            <p14:sldId id="259"/>
          </p14:sldIdLst>
        </p14:section>
        <p14:section name="Model" id="{4589337e-737c-0c65-3206-893d0cac6341}">
          <p14:sldIdLst>
            <p14:sldId id="260"/>
          </p14:sldIdLst>
        </p14:section>
        <p14:section name="Results" id="{2ed8c098-1178-743c-3cd8-3d9178c4688b}">
          <p14:sldIdLst>
            <p14:sldId id="261"/>
            <p14:sldId id="262"/>
            <p14:sldId id="263"/>
            <p14:sldId id="264"/>
            <p14:sldId id="265"/>
          </p14:sldIdLst>
        </p14:section>
        <p14:section name="Validation" id="{8cd1f638-d9d5-3100-6e3e-533acb1e1ec5}">
          <p14:sldIdLst>
            <p14:sldId id="266"/>
            <p14:sldId id="267"/>
          </p14:sldIdLst>
        </p14:section>
        <p14:section name="Design" id="{e282483d-24a7-671d-67c0-8f580cc07362}">
          <p14:sldIdLst>
            <p14:sldId id="268"/>
          </p14:sldIdLst>
        </p14:section>
        <p14:section name="Close" id="{97e4f911-7c54-cf81-159a-651600792388}">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Measured</c:v>
                </c:pt>
              </c:strCache>
            </c:strRef>
          </c:tx>
          <c:spPr>
            <a:solidFill>
              <a:srgbClr val="6B6A66"/>
            </a:solidFill>
            <a:effectLst/>
          </c:spPr>
          <c:invertIfNegative val="0"/>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CO</c:v>
                  </c:pt>
                  <c:pt idx="1">
                    <c:v>H2</c:v>
                  </c:pt>
                  <c:pt idx="2">
                    <c:v>CO2</c:v>
                  </c:pt>
                </c:lvl>
              </c:multiLvlStrCache>
            </c:multiLvlStrRef>
          </c:cat>
          <c:val>
            <c:numRef>
              <c:f>Sheet1!$B$2:$B$4</c:f>
              <c:numCache>
                <c:formatCode>General</c:formatCode>
                <c:ptCount val="3"/>
                <c:pt idx="0">
                  <c:v>19.1</c:v>
                </c:pt>
                <c:pt idx="1">
                  <c:v>15.5</c:v>
                </c:pt>
                <c:pt idx="2">
                  <c:v>11.4</c:v>
                </c:pt>
              </c:numCache>
            </c:numRef>
          </c:val>
        </c:ser>
        <c:ser>
          <c:idx val="1"/>
          <c:order val="1"/>
          <c:tx>
            <c:strRef>
              <c:f>Sheet1!$C$1</c:f>
              <c:strCache>
                <c:ptCount val="1"/>
                <c:pt idx="0">
                  <c:v>Jayah model</c:v>
                </c:pt>
              </c:strCache>
            </c:strRef>
          </c:tx>
          <c:spPr>
            <a:solidFill>
              <a:srgbClr val="2A78D6"/>
            </a:solidFill>
            <a:effectLst/>
          </c:spPr>
          <c:invertIfNegative val="0"/>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CO</c:v>
                  </c:pt>
                  <c:pt idx="1">
                    <c:v>H2</c:v>
                  </c:pt>
                  <c:pt idx="2">
                    <c:v>CO2</c:v>
                  </c:pt>
                </c:lvl>
              </c:multiLvlStrCache>
            </c:multiLvlStrRef>
          </c:cat>
          <c:val>
            <c:numRef>
              <c:f>Sheet1!$C$2:$C$4</c:f>
              <c:numCache>
                <c:formatCode>General</c:formatCode>
                <c:ptCount val="3"/>
                <c:pt idx="0">
                  <c:v>18.3</c:v>
                </c:pt>
                <c:pt idx="1">
                  <c:v>16.4</c:v>
                </c:pt>
                <c:pt idx="2">
                  <c:v>11.1</c:v>
                </c:pt>
              </c:numCache>
            </c:numRef>
          </c:val>
        </c:ser>
        <c:ser>
          <c:idx val="2"/>
          <c:order val="2"/>
          <c:tx>
            <c:strRef>
              <c:f>Sheet1!$D$1</c:f>
              <c:strCache>
                <c:ptCount val="1"/>
                <c:pt idx="0">
                  <c:v>This model</c:v>
                </c:pt>
              </c:strCache>
            </c:strRef>
          </c:tx>
          <c:spPr>
            <a:solidFill>
              <a:srgbClr val="D9531E"/>
            </a:solidFill>
            <a:effectLst/>
          </c:spPr>
          <c:invertIfNegative val="0"/>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CO</c:v>
                  </c:pt>
                  <c:pt idx="1">
                    <c:v>H2</c:v>
                  </c:pt>
                  <c:pt idx="2">
                    <c:v>CO2</c:v>
                  </c:pt>
                </c:lvl>
              </c:multiLvlStrCache>
            </c:multiLvlStrRef>
          </c:cat>
          <c:val>
            <c:numRef>
              <c:f>Sheet1!$D$2:$D$4</c:f>
              <c:numCache>
                <c:formatCode>General</c:formatCode>
                <c:ptCount val="3"/>
                <c:pt idx="0">
                  <c:v>18.7</c:v>
                </c:pt>
                <c:pt idx="1">
                  <c:v>15.65</c:v>
                </c:pt>
                <c:pt idx="2">
                  <c:v>10.72</c:v>
                </c:pt>
              </c:numCache>
            </c:numRef>
          </c:val>
        </c:ser>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3E2DE"/>
              </a:solidFill>
              <a:prstDash val="solid"/>
              <a:round/>
            </a:ln>
          </c:spPr>
        </c:majorGridlines>
        <c:title>
          <c:tx>
            <c:rich>
              <a:bodyPr/>
              <a:lstStyle/>
              <a:p>
                <a:pPr>
                  <a:defRPr sz="1200" b="0" i="0" u="none" strike="noStrike">
                    <a:solidFill>
                      <a:srgbClr val="000000"/>
                    </a:solidFill>
                    <a:latin typeface="+mn-lt"/>
                  </a:defRPr>
                </a:pPr>
                <a:r>
                  <a:rPr sz="1200" b="0" i="0" u="none" strike="noStrike">
                    <a:solidFill>
                      <a:srgbClr val="000000"/>
                    </a:solidFill>
                    <a:latin typeface="+mn-lt"/>
                  </a:rPr>
                  <a:t>Dry mole fraction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assignment: fixed-bed gasifier topic, simulation in Python, validated against Jayah et al. 2003, the NERD 80 kW tea-drying gasifier in Sri Lanka.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The first is a calibration target so it is not independent; the nine runs and thermocouples are independent. Be upfront that R-squared is negative: the measured spread between runs is about 1-2 percentage points, similar to the model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bold-face comes from the paper; the last line lists what we had to assume because the paper does not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1 and 2 of the paper. The right-hand table marks which properties are measured, calculated or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viva point: the mixed adiabatic throat temperature is about 1345 K, lower than Jayah's 1604 K, so we keep Jayah's level and take only the change with AFR, moisture and air temperature from the energy balance. Water-gas shift units are ambiguous in the literature; the fast reading gives a far worse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Table 5 / Run 7 chip-size inconsistency in the paper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case: Fig. 5 conditions, AFR 2.20, 2.5 cm chips.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measured points and Jayah's model curve were digitised from the paper's Fig. 5 (six points, not seven as in our earlier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radial cell runs the same physics as the 1D model; with very strong mixing the 2D model collapses to the 1D result (a unit test checks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CO2 and H2O contours are in the report (Fig. 8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earlier draft quoted R-squared of 0.81 etc.; those were typed constants. These are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and LHV are intensive, so they barely depend on the feed-rate assumption (see feed sweep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markers are Jayah's Table 7 values at 22 cm. Moisture, chip size and air temperature act more strongly in our model because they act through the throat temperature and steep kinetics.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these before the examiners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design recommendation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2B2A28"/>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Batch 09  |  Fixed-bed downdraft gasifier  |  benchmark: Jayah et al. (2003)</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737360"/>
            <a:ext cx="10698480" cy="12801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Simulating a fixed-bed downdraft wood gasifier</a:t>
            </a:r>
            <a:endParaRPr lang="en-US" sz="4000" dirty="0"/>
          </a:p>
        </p:txBody>
      </p:sp>
      <p:sp>
        <p:nvSpPr>
          <p:cNvPr id="3" name="subtitle"/>
          <p:cNvSpPr txBox="1"/>
          <p:nvPr/>
        </p:nvSpPr>
        <p:spPr>
          <a:xfrm>
            <a:off x="731520" y="3063240"/>
            <a:ext cx="10058400" cy="822960"/>
          </a:xfrm>
          <a:prstGeom prst="rect">
            <a:avLst/>
          </a:prstGeom>
          <a:noFill/>
          <a:ln/>
        </p:spPr>
        <p:txBody>
          <a:bodyPr wrap="square" lIns="0" tIns="0" rIns="0" bIns="0" rtlCol="0" anchor="ctr"/>
          <a:lstStyle/>
          <a:p>
            <a:pPr indent="0" marL="0">
              <a:buNone/>
            </a:pPr>
            <a:r>
              <a:rPr lang="en-US" sz="1800" dirty="0">
                <a:solidFill>
                  <a:srgbClr val="D9D8D4"/>
                </a:solidFill>
              </a:rPr>
              <a:t>1D kinetic model, 2D axisymmetric extension and validation against Jayah et al. (2003), Biomass and Bioenergy 25, 459-469</a:t>
            </a:r>
            <a:endParaRPr lang="en-US" sz="1800" dirty="0"/>
          </a:p>
        </p:txBody>
      </p:sp>
      <p:sp>
        <p:nvSpPr>
          <p:cNvPr id="4" name="meta"/>
          <p:cNvSpPr txBox="1"/>
          <p:nvPr/>
        </p:nvSpPr>
        <p:spPr>
          <a:xfrm>
            <a:off x="731520" y="5120640"/>
            <a:ext cx="10058400" cy="365760"/>
          </a:xfrm>
          <a:prstGeom prst="rect">
            <a:avLst/>
          </a:prstGeom>
          <a:noFill/>
          <a:ln/>
        </p:spPr>
        <p:txBody>
          <a:bodyPr wrap="square" lIns="0" tIns="0" rIns="0" bIns="0" rtlCol="0" anchor="ctr"/>
          <a:lstStyle/>
          <a:p>
            <a:pPr indent="0" marL="0">
              <a:buNone/>
            </a:pPr>
            <a:r>
              <a:rPr lang="en-US" sz="1400" dirty="0">
                <a:solidFill>
                  <a:schemeClr val="accent1"/>
                </a:solidFill>
              </a:rPr>
              <a:t>Gasification &amp; Reforming Processes  |  Batch 09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we found</a:t>
            </a:r>
            <a:endParaRPr lang="en-US" sz="3000" dirty="0"/>
          </a:p>
        </p:txBody>
      </p:sp>
      <p:sp>
        <p:nvSpPr>
          <p:cNvPr id="3" name="s1-card"/>
          <p:cNvSpPr/>
          <p:nvPr/>
        </p:nvSpPr>
        <p:spPr>
          <a:xfrm>
            <a:off x="548640" y="1371600"/>
            <a:ext cx="2651760" cy="1417320"/>
          </a:xfrm>
          <a:prstGeom prst="roundRect">
            <a:avLst>
              <a:gd name="adj" fmla="val 5161"/>
            </a:avLst>
          </a:prstGeom>
          <a:solidFill>
            <a:srgbClr val="F3F2F0"/>
          </a:solidFill>
          <a:ln w="12700">
            <a:solidFill>
              <a:srgbClr val="F3F2F0"/>
            </a:solidFill>
            <a:prstDash val="solid"/>
          </a:ln>
        </p:spPr>
      </p:sp>
      <p:sp>
        <p:nvSpPr>
          <p:cNvPr id="4" name="s1-value"/>
          <p:cNvSpPr txBox="1"/>
          <p:nvPr/>
        </p:nvSpPr>
        <p:spPr>
          <a:xfrm>
            <a:off x="731520" y="1481328"/>
            <a:ext cx="22860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0.43</a:t>
            </a:r>
            <a:endParaRPr lang="en-US" sz="3600" dirty="0"/>
          </a:p>
        </p:txBody>
      </p:sp>
      <p:sp>
        <p:nvSpPr>
          <p:cNvPr id="5" name="s1-label"/>
          <p:cNvSpPr txBox="1"/>
          <p:nvPr/>
        </p:nvSpPr>
        <p:spPr>
          <a:xfrm>
            <a:off x="731520" y="2194560"/>
            <a:ext cx="2286000" cy="502920"/>
          </a:xfrm>
          <a:prstGeom prst="rect">
            <a:avLst/>
          </a:prstGeom>
          <a:noFill/>
          <a:ln/>
        </p:spPr>
        <p:txBody>
          <a:bodyPr wrap="square" lIns="0" tIns="0" rIns="0" bIns="0" rtlCol="0" anchor="t"/>
          <a:lstStyle/>
          <a:p>
            <a:pPr indent="0" marL="0">
              <a:buNone/>
            </a:pPr>
            <a:r>
              <a:rPr lang="en-US" sz="1200" dirty="0">
                <a:solidFill>
                  <a:schemeClr val="tx1"/>
                </a:solidFill>
              </a:rPr>
              <a:t>%-pt MAE on the calibration run (Jayah's model: 0.46)</a:t>
            </a:r>
            <a:endParaRPr lang="en-US" sz="1200" dirty="0"/>
          </a:p>
        </p:txBody>
      </p:sp>
      <p:sp>
        <p:nvSpPr>
          <p:cNvPr id="6" name="s2-card"/>
          <p:cNvSpPr/>
          <p:nvPr/>
        </p:nvSpPr>
        <p:spPr>
          <a:xfrm>
            <a:off x="3383280" y="1371600"/>
            <a:ext cx="2651760" cy="1417320"/>
          </a:xfrm>
          <a:prstGeom prst="roundRect">
            <a:avLst>
              <a:gd name="adj" fmla="val 5161"/>
            </a:avLst>
          </a:prstGeom>
          <a:solidFill>
            <a:srgbClr val="F3F2F0"/>
          </a:solidFill>
          <a:ln w="12700">
            <a:solidFill>
              <a:srgbClr val="F3F2F0"/>
            </a:solidFill>
            <a:prstDash val="solid"/>
          </a:ln>
        </p:spPr>
      </p:sp>
      <p:sp>
        <p:nvSpPr>
          <p:cNvPr id="7" name="s2-value"/>
          <p:cNvSpPr txBox="1"/>
          <p:nvPr/>
        </p:nvSpPr>
        <p:spPr>
          <a:xfrm>
            <a:off x="3566160" y="1481328"/>
            <a:ext cx="2286000" cy="73152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1.42 / 2.01</a:t>
            </a:r>
            <a:endParaRPr lang="en-US" sz="3600" dirty="0"/>
          </a:p>
        </p:txBody>
      </p:sp>
      <p:sp>
        <p:nvSpPr>
          <p:cNvPr id="8" name="s2-label"/>
          <p:cNvSpPr txBox="1"/>
          <p:nvPr/>
        </p:nvSpPr>
        <p:spPr>
          <a:xfrm>
            <a:off x="3566160" y="2194560"/>
            <a:ext cx="2286000" cy="502920"/>
          </a:xfrm>
          <a:prstGeom prst="rect">
            <a:avLst/>
          </a:prstGeom>
          <a:noFill/>
          <a:ln/>
        </p:spPr>
        <p:txBody>
          <a:bodyPr wrap="square" lIns="0" tIns="0" rIns="0" bIns="0" rtlCol="0" anchor="t"/>
          <a:lstStyle/>
          <a:p>
            <a:pPr indent="0" marL="0">
              <a:buNone/>
            </a:pPr>
            <a:r>
              <a:rPr lang="en-US" sz="1200" dirty="0">
                <a:solidFill>
                  <a:schemeClr val="tx1"/>
                </a:solidFill>
              </a:rPr>
              <a:t>%-pt MAE for CO / H2 over the nine independent runs</a:t>
            </a:r>
            <a:endParaRPr lang="en-US" sz="1200" dirty="0"/>
          </a:p>
        </p:txBody>
      </p:sp>
      <p:sp>
        <p:nvSpPr>
          <p:cNvPr id="9" name="s3-card"/>
          <p:cNvSpPr/>
          <p:nvPr/>
        </p:nvSpPr>
        <p:spPr>
          <a:xfrm>
            <a:off x="6217920" y="1371600"/>
            <a:ext cx="2651760" cy="1417320"/>
          </a:xfrm>
          <a:prstGeom prst="roundRect">
            <a:avLst>
              <a:gd name="adj" fmla="val 5161"/>
            </a:avLst>
          </a:prstGeom>
          <a:solidFill>
            <a:srgbClr val="F3F2F0"/>
          </a:solidFill>
          <a:ln w="12700">
            <a:solidFill>
              <a:srgbClr val="F3F2F0"/>
            </a:solidFill>
            <a:prstDash val="solid"/>
          </a:ln>
        </p:spPr>
      </p:sp>
      <p:sp>
        <p:nvSpPr>
          <p:cNvPr id="10" name="s3-value"/>
          <p:cNvSpPr txBox="1"/>
          <p:nvPr/>
        </p:nvSpPr>
        <p:spPr>
          <a:xfrm>
            <a:off x="6400800" y="1481328"/>
            <a:ext cx="228600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93 K</a:t>
            </a:r>
            <a:endParaRPr lang="en-US" sz="3600" dirty="0"/>
          </a:p>
        </p:txBody>
      </p:sp>
      <p:sp>
        <p:nvSpPr>
          <p:cNvPr id="11" name="s3-label"/>
          <p:cNvSpPr txBox="1"/>
          <p:nvPr/>
        </p:nvSpPr>
        <p:spPr>
          <a:xfrm>
            <a:off x="6400800" y="2194560"/>
            <a:ext cx="2286000" cy="502920"/>
          </a:xfrm>
          <a:prstGeom prst="rect">
            <a:avLst/>
          </a:prstGeom>
          <a:noFill/>
          <a:ln/>
        </p:spPr>
        <p:txBody>
          <a:bodyPr wrap="square" lIns="0" tIns="0" rIns="0" bIns="0" rtlCol="0" anchor="t"/>
          <a:lstStyle/>
          <a:p>
            <a:pPr indent="0" marL="0">
              <a:buNone/>
            </a:pPr>
            <a:r>
              <a:rPr lang="en-US" sz="1200" dirty="0">
                <a:solidFill>
                  <a:schemeClr val="tx1"/>
                </a:solidFill>
              </a:rPr>
              <a:t>axial temperature MAE vs six thermocouples (Jayah's model: 121 K)</a:t>
            </a:r>
            <a:endParaRPr lang="en-US" sz="1200" dirty="0"/>
          </a:p>
        </p:txBody>
      </p:sp>
      <p:sp>
        <p:nvSpPr>
          <p:cNvPr id="12" name="s4-card"/>
          <p:cNvSpPr/>
          <p:nvPr/>
        </p:nvSpPr>
        <p:spPr>
          <a:xfrm>
            <a:off x="9052560" y="1371600"/>
            <a:ext cx="2606040" cy="1417320"/>
          </a:xfrm>
          <a:prstGeom prst="roundRect">
            <a:avLst>
              <a:gd name="adj" fmla="val 5161"/>
            </a:avLst>
          </a:prstGeom>
          <a:solidFill>
            <a:srgbClr val="F3F2F0"/>
          </a:solidFill>
          <a:ln w="12700">
            <a:solidFill>
              <a:srgbClr val="F3F2F0"/>
            </a:solidFill>
            <a:prstDash val="solid"/>
          </a:ln>
        </p:spPr>
      </p:sp>
      <p:sp>
        <p:nvSpPr>
          <p:cNvPr id="13" name="s4-value"/>
          <p:cNvSpPr txBox="1"/>
          <p:nvPr/>
        </p:nvSpPr>
        <p:spPr>
          <a:xfrm>
            <a:off x="9235440" y="1481328"/>
            <a:ext cx="2240280" cy="731520"/>
          </a:xfrm>
          <a:prstGeom prst="rect">
            <a:avLst/>
          </a:prstGeom>
          <a:noFill/>
          <a:ln/>
        </p:spPr>
        <p:txBody>
          <a:bodyPr wrap="square" lIns="0" tIns="0" rIns="0" bIns="0" rtlCol="0" anchor="ctr"/>
          <a:lstStyle/>
          <a:p>
            <a:pPr indent="0" marL="0">
              <a:buNone/>
            </a:pPr>
            <a:r>
              <a:rPr lang="en-US" sz="3600" b="1" dirty="0">
                <a:solidFill>
                  <a:schemeClr val="accent6"/>
                </a:solidFill>
                <a:latin typeface="Cambria" pitchFamily="34" charset="0"/>
                <a:ea typeface="Cambria" pitchFamily="34" charset="-122"/>
                <a:cs typeface="Cambria" pitchFamily="34" charset="-120"/>
              </a:rPr>
              <a:t>11 cm</a:t>
            </a:r>
            <a:endParaRPr lang="en-US" sz="3600" dirty="0"/>
          </a:p>
        </p:txBody>
      </p:sp>
      <p:sp>
        <p:nvSpPr>
          <p:cNvPr id="14" name="s4-label"/>
          <p:cNvSpPr txBox="1"/>
          <p:nvPr/>
        </p:nvSpPr>
        <p:spPr>
          <a:xfrm>
            <a:off x="9235440" y="2194560"/>
            <a:ext cx="2240280" cy="502920"/>
          </a:xfrm>
          <a:prstGeom prst="rect">
            <a:avLst/>
          </a:prstGeom>
          <a:noFill/>
          <a:ln/>
        </p:spPr>
        <p:txBody>
          <a:bodyPr wrap="square" lIns="0" tIns="0" rIns="0" bIns="0" rtlCol="0" anchor="t"/>
          <a:lstStyle/>
          <a:p>
            <a:pPr indent="0" marL="0">
              <a:buNone/>
            </a:pPr>
            <a:r>
              <a:rPr lang="en-US" sz="1200" dirty="0">
                <a:solidFill>
                  <a:schemeClr val="tx1"/>
                </a:solidFill>
              </a:rPr>
              <a:t>optimum hearth length with the measured 12.8 % heat loss (Jayah: 32-33 cm)</a:t>
            </a:r>
            <a:endParaRPr lang="en-US" sz="1200" dirty="0"/>
          </a:p>
        </p:txBody>
      </p:sp>
      <p:sp>
        <p:nvSpPr>
          <p:cNvPr id="15" name="Text 13"/>
          <p:cNvSpPr txBox="1"/>
          <p:nvPr/>
        </p:nvSpPr>
        <p:spPr>
          <a:xfrm>
            <a:off x="548640" y="3291840"/>
            <a:ext cx="11064240" cy="274320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Mean gas composition and heating value are reproduced; run-to-run differences are not (R² about the 1:1 line ≤ 0)</a:t>
            </a:r>
            <a:endParaRPr lang="en-US" sz="2000" dirty="0"/>
          </a:p>
          <a:p>
            <a:pPr marL="342900" indent="-342900">
              <a:spcAft>
                <a:spcPts val="800"/>
              </a:spcAft>
              <a:buSzPct val="100000"/>
              <a:buChar char="•"/>
            </a:pPr>
            <a:r>
              <a:rPr lang="en-US" sz="2000" dirty="0">
                <a:solidFill>
                  <a:schemeClr val="tx1"/>
                </a:solidFill>
              </a:rPr>
              <a:t>The model agrees with Jayah on the direction of every parametric effect and on heat loss being decisive</a:t>
            </a:r>
            <a:endParaRPr lang="en-US" sz="2000" dirty="0"/>
          </a:p>
          <a:p>
            <a:pPr marL="342900" indent="-342900">
              <a:spcAft>
                <a:spcPts val="800"/>
              </a:spcAft>
              <a:buSzPct val="100000"/>
              <a:buChar char="•"/>
            </a:pPr>
            <a:r>
              <a:rPr lang="en-US" sz="2000" dirty="0">
                <a:solidFill>
                  <a:schemeClr val="tx1"/>
                </a:solidFill>
              </a:rPr>
              <a:t>It disagrees on the remedy: insulating the hearth helps far more than lengthening it to 33 cm</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NERD gasifier and the paper's data</a:t>
            </a:r>
            <a:endParaRPr lang="en-US" sz="3000" dirty="0"/>
          </a:p>
        </p:txBody>
      </p:sp>
      <p:pic>
        <p:nvPicPr>
          <p:cNvPr id="3" name="geometry" descr="fig00 geometry">    </p:cNvPr>
          <p:cNvPicPr>
            <a:picLocks noChangeAspect="1"/>
          </p:cNvPicPr>
          <p:nvPr/>
        </p:nvPicPr>
        <p:blipFill>
          <a:blip r:embed="rId1"/>
          <a:stretch>
            <a:fillRect/>
          </a:stretch>
        </p:blipFill>
        <p:spPr>
          <a:xfrm>
            <a:off x="548640" y="1234440"/>
            <a:ext cx="3108960" cy="4106948"/>
          </a:xfrm>
          <a:prstGeom prst="rect">
            <a:avLst/>
          </a:prstGeom>
        </p:spPr>
      </p:pic>
      <p:sp>
        <p:nvSpPr>
          <p:cNvPr id="4" name="Text 1"/>
          <p:cNvSpPr txBox="1"/>
          <p:nvPr/>
        </p:nvSpPr>
        <p:spPr>
          <a:xfrm>
            <a:off x="4023360" y="1325880"/>
            <a:ext cx="7589520" cy="4846320"/>
          </a:xfrm>
          <a:prstGeom prst="rect">
            <a:avLst/>
          </a:prstGeom>
          <a:noFill/>
          <a:ln/>
        </p:spPr>
        <p:txBody>
          <a:bodyPr wrap="square" lIns="635" tIns="635" rIns="635" bIns="635" rtlCol="0" anchor="t"/>
          <a:lstStyle/>
          <a:p>
            <a:pPr marL="342900" indent="-342900">
              <a:spcAft>
                <a:spcPts val="800"/>
              </a:spcAft>
              <a:buSzPct val="100000"/>
              <a:buChar char="•"/>
            </a:pPr>
            <a:r>
              <a:rPr lang="en-US" sz="1600" b="1" dirty="0">
                <a:solidFill>
                  <a:schemeClr val="tx1"/>
                </a:solidFill>
              </a:rPr>
              <a:t>Reactor: </a:t>
            </a:r>
            <a:pPr indent="0" marL="0">
              <a:buNone/>
            </a:pPr>
            <a:r>
              <a:rPr lang="en-US" sz="1600" dirty="0">
                <a:solidFill>
                  <a:schemeClr val="tx1"/>
                </a:solidFill>
              </a:rPr>
              <a:t>80 kWth, throat Ø100 mm, 12 air nozzles, 220 mm conical reduction zone (61° wall), no insulation</a:t>
            </a:r>
            <a:endParaRPr lang="en-US" sz="1600" dirty="0"/>
          </a:p>
          <a:p>
            <a:pPr marL="342900" indent="-342900">
              <a:spcAft>
                <a:spcPts val="800"/>
              </a:spcAft>
              <a:buSzPct val="100000"/>
              <a:buChar char="•"/>
            </a:pPr>
            <a:r>
              <a:rPr lang="en-US" sz="1600" b="1" dirty="0">
                <a:solidFill>
                  <a:schemeClr val="tx1"/>
                </a:solidFill>
              </a:rPr>
              <a:t>Fuel: </a:t>
            </a:r>
            <a:pPr indent="0" marL="0">
              <a:buNone/>
            </a:pPr>
            <a:r>
              <a:rPr lang="en-US" sz="1600" dirty="0">
                <a:solidFill>
                  <a:schemeClr val="tx1"/>
                </a:solidFill>
              </a:rPr>
              <a:t>rubber wood, 3.3 / 4.4 / 5.5 cm chips, 12.5-18.5 % moisture (d.b.)</a:t>
            </a:r>
            <a:endParaRPr lang="en-US" sz="1600" dirty="0"/>
          </a:p>
          <a:p>
            <a:pPr marL="342900" indent="-342900">
              <a:spcAft>
                <a:spcPts val="800"/>
              </a:spcAft>
              <a:buSzPct val="100000"/>
              <a:buChar char="•"/>
            </a:pPr>
            <a:r>
              <a:rPr lang="en-US" sz="1600" b="1" dirty="0">
                <a:solidFill>
                  <a:schemeClr val="tx1"/>
                </a:solidFill>
              </a:rPr>
              <a:t>Air-fuel ratio: </a:t>
            </a:r>
            <a:pPr indent="0" marL="0">
              <a:buNone/>
            </a:pPr>
            <a:r>
              <a:rPr lang="en-US" sz="1600" dirty="0">
                <a:solidFill>
                  <a:schemeClr val="tx1"/>
                </a:solidFill>
              </a:rPr>
              <a:t>1.86-2.37 kg/kg, i.e. equivalence ratio 0.30-0.38 (stoichiometric air 6.22 kg/kg)</a:t>
            </a:r>
            <a:endParaRPr lang="en-US" sz="1600" dirty="0"/>
          </a:p>
          <a:p>
            <a:pPr marL="342900" indent="-342900">
              <a:spcAft>
                <a:spcPts val="800"/>
              </a:spcAft>
              <a:buSzPct val="100000"/>
              <a:buChar char="•"/>
            </a:pPr>
            <a:r>
              <a:rPr lang="en-US" sz="1600" b="1" dirty="0">
                <a:solidFill>
                  <a:schemeClr val="tx1"/>
                </a:solidFill>
              </a:rPr>
              <a:t>Validation data: </a:t>
            </a:r>
            <a:pPr indent="0" marL="0">
              <a:buNone/>
            </a:pPr>
            <a:r>
              <a:rPr lang="en-US" sz="1600" dirty="0">
                <a:solidFill>
                  <a:schemeClr val="tx1"/>
                </a:solidFill>
              </a:rPr>
              <a:t>Table 3 (nine gas analyses), Table 5 (calibration run), Fig. 5 (six axial temperatures), Table 7 (parametric study)</a:t>
            </a:r>
            <a:endParaRPr lang="en-US" sz="1600" dirty="0"/>
          </a:p>
          <a:p>
            <a:pPr marL="342900" indent="-342900">
              <a:spcAft>
                <a:spcPts val="800"/>
              </a:spcAft>
              <a:buSzPct val="100000"/>
              <a:buChar char="•"/>
            </a:pPr>
            <a:r>
              <a:rPr lang="en-US" sz="1600" b="1" dirty="0">
                <a:solidFill>
                  <a:schemeClr val="tx1"/>
                </a:solidFill>
              </a:rPr>
              <a:t>Not reported, so assumed: </a:t>
            </a:r>
            <a:pPr indent="0" marL="0">
              <a:buNone/>
            </a:pPr>
            <a:r>
              <a:rPr lang="en-US" sz="1600" dirty="0">
                <a:solidFill>
                  <a:schemeClr val="tx1"/>
                </a:solidFill>
              </a:rPr>
              <a:t>feed rate per run (18.6 kg/h from Table 4), bed voidage 0.48, char density 250 kg/m³</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Feedstock: rubber wood</a:t>
            </a:r>
            <a:endParaRPr lang="en-US" sz="3000" dirty="0"/>
          </a:p>
        </p:txBody>
      </p:sp>
      <p:pic>
        <p:nvPicPr>
          <p:cNvPr id="3" name="feedstock" descr="fig01 feedstock composition">    </p:cNvPr>
          <p:cNvPicPr>
            <a:picLocks noChangeAspect="1"/>
          </p:cNvPicPr>
          <p:nvPr/>
        </p:nvPicPr>
        <p:blipFill>
          <a:blip r:embed="rId1"/>
          <a:stretch>
            <a:fillRect/>
          </a:stretch>
        </p:blipFill>
        <p:spPr>
          <a:xfrm>
            <a:off x="548640" y="1280160"/>
            <a:ext cx="11064240" cy="3540557"/>
          </a:xfrm>
          <a:prstGeom prst="rect">
            <a:avLst/>
          </a:prstGeom>
        </p:spPr>
      </p:pic>
      <p:sp>
        <p:nvSpPr>
          <p:cNvPr id="4" name="Text 1"/>
          <p:cNvSpPr txBox="1"/>
          <p:nvPr/>
        </p:nvSpPr>
        <p:spPr>
          <a:xfrm>
            <a:off x="548640" y="4937760"/>
            <a:ext cx="11064240" cy="12801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Fixed carbon (19.2 %) becomes the char that is gasified in the reduction zone; the volatiles (80.1 %) burn with the air above the throat</a:t>
            </a:r>
            <a:endParaRPr lang="en-US" sz="1600" dirty="0"/>
          </a:p>
          <a:p>
            <a:pPr marL="342900" indent="-342900">
              <a:spcAft>
                <a:spcPts val="800"/>
              </a:spcAft>
              <a:buSzPct val="100000"/>
              <a:buChar char="•"/>
            </a:pPr>
            <a:r>
              <a:rPr lang="en-US" sz="1600" dirty="0">
                <a:solidFill>
                  <a:schemeClr val="tx1"/>
                </a:solidFill>
              </a:rPr>
              <a:t>Dry LHV 18.17 MJ/kg and formula CH1.53O0.62N0.0034 are calculated from the paper's analyses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Model structure: three linked parts</a:t>
            </a:r>
            <a:endParaRPr lang="en-US" sz="3000" dirty="0"/>
          </a:p>
        </p:txBody>
      </p:sp>
      <p:sp>
        <p:nvSpPr>
          <p:cNvPr id="3" name="box0"/>
          <p:cNvSpPr/>
          <p:nvPr/>
        </p:nvSpPr>
        <p:spPr>
          <a:xfrm>
            <a:off x="548640" y="1371600"/>
            <a:ext cx="3474720" cy="2468880"/>
          </a:xfrm>
          <a:prstGeom prst="roundRect">
            <a:avLst>
              <a:gd name="adj" fmla="val 2963"/>
            </a:avLst>
          </a:prstGeom>
          <a:solidFill>
            <a:srgbClr val="F3F2F0"/>
          </a:solidFill>
          <a:ln w="12700">
            <a:solidFill>
              <a:srgbClr val="F3F2F0"/>
            </a:solidFill>
            <a:prstDash val="solid"/>
          </a:ln>
        </p:spPr>
      </p:sp>
      <p:sp>
        <p:nvSpPr>
          <p:cNvPr id="4" name="num0"/>
          <p:cNvSpPr txBox="1"/>
          <p:nvPr/>
        </p:nvSpPr>
        <p:spPr>
          <a:xfrm>
            <a:off x="777240" y="1554480"/>
            <a:ext cx="502920" cy="502920"/>
          </a:xfrm>
          <a:prstGeom prst="ellipse">
            <a:avLst/>
          </a:prstGeom>
          <a:solidFill>
            <a:srgbClr val="D9531E"/>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boxtitle0"/>
          <p:cNvSpPr txBox="1"/>
          <p:nvPr/>
        </p:nvSpPr>
        <p:spPr>
          <a:xfrm>
            <a:off x="1417320" y="1554480"/>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Throat sub-model</a:t>
            </a:r>
            <a:endParaRPr lang="en-US" sz="1800" dirty="0"/>
          </a:p>
        </p:txBody>
      </p:sp>
      <p:sp>
        <p:nvSpPr>
          <p:cNvPr id="6" name="boxtext0"/>
          <p:cNvSpPr txBox="1"/>
          <p:nvPr/>
        </p:nvSpPr>
        <p:spPr>
          <a:xfrm>
            <a:off x="777240" y="2194560"/>
            <a:ext cx="3063240" cy="1554480"/>
          </a:xfrm>
          <a:prstGeom prst="rect">
            <a:avLst/>
          </a:prstGeom>
          <a:noFill/>
          <a:ln/>
        </p:spPr>
        <p:txBody>
          <a:bodyPr wrap="square" lIns="0" tIns="0" rIns="0" bIns="0" rtlCol="0" anchor="t"/>
          <a:lstStyle/>
          <a:p>
            <a:pPr indent="0" marL="0">
              <a:buNone/>
            </a:pPr>
            <a:r>
              <a:rPr lang="en-US" sz="1300" dirty="0">
                <a:solidFill>
                  <a:schemeClr val="tx1"/>
                </a:solidFill>
              </a:rPr>
              <a:t>Volatiles + air -&gt; CO, CO2, H2, H2O, N2 (WGS equilibrium, CH4 fixed at 1.2 %). Temperature from an enthalpy balance, anchored to Jayah's 1604 K</a:t>
            </a:r>
            <a:endParaRPr lang="en-US" sz="1300" dirty="0"/>
          </a:p>
        </p:txBody>
      </p:sp>
      <p:sp>
        <p:nvSpPr>
          <p:cNvPr id="7" name="arrow0"/>
          <p:cNvSpPr/>
          <p:nvPr/>
        </p:nvSpPr>
        <p:spPr>
          <a:xfrm>
            <a:off x="4041648" y="2468880"/>
            <a:ext cx="283464" cy="274320"/>
          </a:xfrm>
          <a:prstGeom prst="rightArrow">
            <a:avLst/>
          </a:prstGeom>
          <a:solidFill>
            <a:srgbClr val="6B6A66"/>
          </a:solidFill>
          <a:ln w="12700">
            <a:solidFill>
              <a:srgbClr val="6B6A66"/>
            </a:solidFill>
            <a:prstDash val="solid"/>
          </a:ln>
        </p:spPr>
      </p:sp>
      <p:sp>
        <p:nvSpPr>
          <p:cNvPr id="8" name="box1"/>
          <p:cNvSpPr/>
          <p:nvPr/>
        </p:nvSpPr>
        <p:spPr>
          <a:xfrm>
            <a:off x="4343400" y="1371600"/>
            <a:ext cx="3474720" cy="2468880"/>
          </a:xfrm>
          <a:prstGeom prst="roundRect">
            <a:avLst>
              <a:gd name="adj" fmla="val 2963"/>
            </a:avLst>
          </a:prstGeom>
          <a:solidFill>
            <a:srgbClr val="F3F2F0"/>
          </a:solidFill>
          <a:ln w="12700">
            <a:solidFill>
              <a:srgbClr val="F3F2F0"/>
            </a:solidFill>
            <a:prstDash val="solid"/>
          </a:ln>
        </p:spPr>
      </p:sp>
      <p:sp>
        <p:nvSpPr>
          <p:cNvPr id="9" name="num1"/>
          <p:cNvSpPr txBox="1"/>
          <p:nvPr/>
        </p:nvSpPr>
        <p:spPr>
          <a:xfrm>
            <a:off x="4572000" y="1554480"/>
            <a:ext cx="502920" cy="502920"/>
          </a:xfrm>
          <a:prstGeom prst="ellipse">
            <a:avLst/>
          </a:prstGeom>
          <a:solidFill>
            <a:srgbClr val="D9531E"/>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boxtitle1"/>
          <p:cNvSpPr txBox="1"/>
          <p:nvPr/>
        </p:nvSpPr>
        <p:spPr>
          <a:xfrm>
            <a:off x="5212080" y="1554480"/>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1D reduction zone</a:t>
            </a:r>
            <a:endParaRPr lang="en-US" sz="1800" dirty="0"/>
          </a:p>
        </p:txBody>
      </p:sp>
      <p:sp>
        <p:nvSpPr>
          <p:cNvPr id="11" name="boxtext1"/>
          <p:cNvSpPr txBox="1"/>
          <p:nvPr/>
        </p:nvSpPr>
        <p:spPr>
          <a:xfrm>
            <a:off x="4572000" y="2194560"/>
            <a:ext cx="3063240" cy="1554480"/>
          </a:xfrm>
          <a:prstGeom prst="rect">
            <a:avLst/>
          </a:prstGeom>
          <a:noFill/>
          <a:ln/>
        </p:spPr>
        <p:txBody>
          <a:bodyPr wrap="square" lIns="0" tIns="0" rIns="0" bIns="0" rtlCol="0" anchor="t"/>
          <a:lstStyle/>
          <a:p>
            <a:pPr indent="0" marL="0">
              <a:buNone/>
            </a:pPr>
            <a:r>
              <a:rPr lang="en-US" sz="1300" dirty="0">
                <a:solidFill>
                  <a:schemeClr val="tx1"/>
                </a:solidFill>
              </a:rPr>
              <a:t>Species, char, gas and char temperatures, particle shrinkage. Boudouard, water-gas, methanation, WGS. Wall loss U·P·(Tg - T∞). Stiff Radau solver</a:t>
            </a:r>
            <a:endParaRPr lang="en-US" sz="1300" dirty="0"/>
          </a:p>
        </p:txBody>
      </p:sp>
      <p:sp>
        <p:nvSpPr>
          <p:cNvPr id="12" name="arrow1"/>
          <p:cNvSpPr/>
          <p:nvPr/>
        </p:nvSpPr>
        <p:spPr>
          <a:xfrm>
            <a:off x="7836408" y="2468880"/>
            <a:ext cx="283464" cy="274320"/>
          </a:xfrm>
          <a:prstGeom prst="rightArrow">
            <a:avLst/>
          </a:prstGeom>
          <a:solidFill>
            <a:srgbClr val="6B6A66"/>
          </a:solidFill>
          <a:ln w="12700">
            <a:solidFill>
              <a:srgbClr val="6B6A66"/>
            </a:solidFill>
            <a:prstDash val="solid"/>
          </a:ln>
        </p:spPr>
      </p:sp>
      <p:sp>
        <p:nvSpPr>
          <p:cNvPr id="13" name="box2"/>
          <p:cNvSpPr/>
          <p:nvPr/>
        </p:nvSpPr>
        <p:spPr>
          <a:xfrm>
            <a:off x="8138160" y="1371600"/>
            <a:ext cx="3474720" cy="2468880"/>
          </a:xfrm>
          <a:prstGeom prst="roundRect">
            <a:avLst>
              <a:gd name="adj" fmla="val 2963"/>
            </a:avLst>
          </a:prstGeom>
          <a:solidFill>
            <a:srgbClr val="F3F2F0"/>
          </a:solidFill>
          <a:ln w="12700">
            <a:solidFill>
              <a:srgbClr val="F3F2F0"/>
            </a:solidFill>
            <a:prstDash val="solid"/>
          </a:ln>
        </p:spPr>
      </p:sp>
      <p:sp>
        <p:nvSpPr>
          <p:cNvPr id="14" name="num2"/>
          <p:cNvSpPr txBox="1"/>
          <p:nvPr/>
        </p:nvSpPr>
        <p:spPr>
          <a:xfrm>
            <a:off x="8366760" y="1554480"/>
            <a:ext cx="502920" cy="502920"/>
          </a:xfrm>
          <a:prstGeom prst="ellipse">
            <a:avLst/>
          </a:prstGeom>
          <a:solidFill>
            <a:srgbClr val="D9531E"/>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boxtitle2"/>
          <p:cNvSpPr txBox="1"/>
          <p:nvPr/>
        </p:nvSpPr>
        <p:spPr>
          <a:xfrm>
            <a:off x="9006840" y="1554480"/>
            <a:ext cx="2468880" cy="502920"/>
          </a:xfrm>
          <a:prstGeom prst="rect">
            <a:avLst/>
          </a:prstGeom>
          <a:noFill/>
          <a:ln/>
        </p:spPr>
        <p:txBody>
          <a:bodyPr wrap="square" lIns="0" tIns="0" rIns="0" bIns="0" rtlCol="0" anchor="ctr"/>
          <a:lstStyle/>
          <a:p>
            <a:pPr indent="0" marL="0">
              <a:buNone/>
            </a:pPr>
            <a:r>
              <a:rPr lang="en-US" sz="1800" b="1" dirty="0">
                <a:solidFill>
                  <a:schemeClr val="tx2"/>
                </a:solidFill>
              </a:rPr>
              <a:t>2D axisymmetric</a:t>
            </a:r>
            <a:endParaRPr lang="en-US" sz="1800" dirty="0"/>
          </a:p>
        </p:txBody>
      </p:sp>
      <p:sp>
        <p:nvSpPr>
          <p:cNvPr id="16" name="boxtext2"/>
          <p:cNvSpPr txBox="1"/>
          <p:nvPr/>
        </p:nvSpPr>
        <p:spPr>
          <a:xfrm>
            <a:off x="8366760" y="2194560"/>
            <a:ext cx="3063240" cy="1554480"/>
          </a:xfrm>
          <a:prstGeom prst="rect">
            <a:avLst/>
          </a:prstGeom>
          <a:noFill/>
          <a:ln/>
        </p:spPr>
        <p:txBody>
          <a:bodyPr wrap="square" lIns="0" tIns="0" rIns="0" bIns="0" rtlCol="0" anchor="t"/>
          <a:lstStyle/>
          <a:p>
            <a:pPr indent="0" marL="0">
              <a:buNone/>
            </a:pPr>
            <a:r>
              <a:rPr lang="en-US" sz="1300" dirty="0">
                <a:solidFill>
                  <a:schemeClr val="tx1"/>
                </a:solidFill>
              </a:rPr>
              <a:t>12 annular cells following the cone; each runs the 1D physics; radial dispersion of heat and species; wall loss only at the outer cell</a:t>
            </a:r>
            <a:endParaRPr lang="en-US" sz="1300" dirty="0"/>
          </a:p>
        </p:txBody>
      </p:sp>
      <p:sp>
        <p:nvSpPr>
          <p:cNvPr id="17" name="calhead"/>
          <p:cNvSpPr txBox="1"/>
          <p:nvPr/>
        </p:nvSpPr>
        <p:spPr>
          <a:xfrm>
            <a:off x="548640" y="4114800"/>
            <a:ext cx="11064240" cy="411480"/>
          </a:xfrm>
          <a:prstGeom prst="rect">
            <a:avLst/>
          </a:prstGeom>
          <a:noFill/>
          <a:ln/>
        </p:spPr>
        <p:txBody>
          <a:bodyPr wrap="square" lIns="0" tIns="0" rIns="0" bIns="0" rtlCol="0" anchor="ctr"/>
          <a:lstStyle/>
          <a:p>
            <a:pPr indent="0" marL="0">
              <a:buNone/>
            </a:pPr>
            <a:r>
              <a:rPr lang="en-US" sz="1800" b="1" dirty="0">
                <a:solidFill>
                  <a:schemeClr val="tx2"/>
                </a:solidFill>
              </a:rPr>
              <a:t>Calibrated (3 parameters, never on validation data)</a:t>
            </a:r>
            <a:endParaRPr lang="en-US" sz="1800" dirty="0"/>
          </a:p>
        </p:txBody>
      </p:sp>
      <p:sp>
        <p:nvSpPr>
          <p:cNvPr id="18" name="Text 16"/>
          <p:cNvSpPr txBox="1"/>
          <p:nvPr/>
        </p:nvSpPr>
        <p:spPr>
          <a:xfrm>
            <a:off x="548640" y="4572000"/>
            <a:ext cx="11064240" cy="14630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Wall coefficient U = 114.4 W/m²K: gives the 12.8 % heat loss Jayah measured</a:t>
            </a:r>
            <a:endParaRPr lang="en-US" sz="1600" dirty="0"/>
          </a:p>
          <a:p>
            <a:pPr marL="342900" indent="-342900">
              <a:spcAft>
                <a:spcPts val="800"/>
              </a:spcAft>
              <a:buSzPct val="100000"/>
              <a:buChar char="•"/>
            </a:pPr>
            <a:r>
              <a:rPr lang="en-US" sz="1600" dirty="0">
                <a:solidFill>
                  <a:schemeClr val="tx1"/>
                </a:solidFill>
              </a:rPr>
              <a:t>Char-reactivity factors η(Boudouard) = 0.47, η(water-gas) = 0.14: fitted to the CO, H2 and CO2 of Table 5</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Calibration run: matches as well as Jayah's own model</a:t>
            </a:r>
            <a:endParaRPr lang="en-US" sz="3000" dirty="0"/>
          </a:p>
        </p:txBody>
      </p:sp>
      <p:graphicFrame>
        <p:nvGraphicFramePr>
          <p:cNvPr id="3" name="calibration-chart" descr=""/>
          <p:cNvGraphicFramePr/>
          <p:nvPr/>
        </p:nvGraphicFramePr>
        <p:xfrm>
          <a:off x="548640" y="128016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463040"/>
            <a:ext cx="4114800" cy="45720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MAE 0.43 %-pts (Jayah's model 0.46)</a:t>
            </a:r>
            <a:endParaRPr lang="en-US" sz="1600" dirty="0"/>
          </a:p>
          <a:p>
            <a:pPr marL="342900" indent="-342900">
              <a:spcAft>
                <a:spcPts val="800"/>
              </a:spcAft>
              <a:buSzPct val="100000"/>
              <a:buChar char="•"/>
            </a:pPr>
            <a:r>
              <a:rPr lang="en-US" sz="1600" dirty="0">
                <a:solidFill>
                  <a:schemeClr val="tx1"/>
                </a:solidFill>
              </a:rPr>
              <a:t>Table 5 = Run 7 (AFR 1.86, 14.7 % moisture) with 2.5 cm chips, as the paper states</a:t>
            </a:r>
            <a:endParaRPr lang="en-US" sz="1600" dirty="0"/>
          </a:p>
          <a:p>
            <a:pPr marL="342900" indent="-342900">
              <a:spcAft>
                <a:spcPts val="800"/>
              </a:spcAft>
              <a:buSzPct val="100000"/>
              <a:buChar char="•"/>
            </a:pPr>
            <a:r>
              <a:rPr lang="en-US" sz="1600" dirty="0">
                <a:solidFill>
                  <a:schemeClr val="tx1"/>
                </a:solidFill>
              </a:rPr>
              <a:t>This is a calibration target, so the fit is not evidence by itself; the next slides use independent data</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Axial species: conversion happens in the first 10 cm</a:t>
            </a:r>
            <a:endParaRPr lang="en-US" sz="3000" dirty="0"/>
          </a:p>
        </p:txBody>
      </p:sp>
      <p:pic>
        <p:nvPicPr>
          <p:cNvPr id="3" name="species" descr="fig02 species distributions 1d">    </p:cNvPr>
          <p:cNvPicPr>
            <a:picLocks noChangeAspect="1"/>
          </p:cNvPicPr>
          <p:nvPr/>
        </p:nvPicPr>
        <p:blipFill>
          <a:blip r:embed="rId1"/>
          <a:stretch>
            <a:fillRect/>
          </a:stretch>
        </p:blipFill>
        <p:spPr>
          <a:xfrm>
            <a:off x="548640" y="1280160"/>
            <a:ext cx="11064240" cy="4248940"/>
          </a:xfrm>
          <a:prstGeom prst="rect">
            <a:avLst/>
          </a:prstGeom>
        </p:spPr>
      </p:pic>
      <p:sp>
        <p:nvSpPr>
          <p:cNvPr id="4" name="Text 1"/>
          <p:cNvSpPr txBox="1"/>
          <p:nvPr/>
        </p:nvSpPr>
        <p:spPr>
          <a:xfrm>
            <a:off x="548640" y="5623560"/>
            <a:ext cx="11064240" cy="68580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CO 13.7 -&gt; 21.3 %, H2 9.2 -&gt; 13.5 %, CO2 12.6 -&gt; 9.0 %, steam 23.6 -&gt; 17.7 % (wet); then the bed is too cold and the gas freezes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Temperature: closer to the thermocouples than Jayah's model</a:t>
            </a:r>
            <a:endParaRPr lang="en-US" sz="3000" dirty="0"/>
          </a:p>
        </p:txBody>
      </p:sp>
      <p:pic>
        <p:nvPicPr>
          <p:cNvPr id="3" name="temperature" descr="fig03 temperature profiles 1d">    </p:cNvPr>
          <p:cNvPicPr>
            <a:picLocks noChangeAspect="1"/>
          </p:cNvPicPr>
          <p:nvPr/>
        </p:nvPicPr>
        <p:blipFill>
          <a:blip r:embed="rId1"/>
          <a:stretch>
            <a:fillRect/>
          </a:stretch>
        </p:blipFill>
        <p:spPr>
          <a:xfrm>
            <a:off x="548640" y="1234440"/>
            <a:ext cx="6309360" cy="5019379"/>
          </a:xfrm>
          <a:prstGeom prst="rect">
            <a:avLst/>
          </a:prstGeom>
        </p:spPr>
      </p:pic>
      <p:sp>
        <p:nvSpPr>
          <p:cNvPr id="4" name="t1-card"/>
          <p:cNvSpPr/>
          <p:nvPr/>
        </p:nvSpPr>
        <p:spPr>
          <a:xfrm>
            <a:off x="7315200" y="1371600"/>
            <a:ext cx="4297680" cy="1417320"/>
          </a:xfrm>
          <a:prstGeom prst="roundRect">
            <a:avLst>
              <a:gd name="adj" fmla="val 5161"/>
            </a:avLst>
          </a:prstGeom>
          <a:solidFill>
            <a:srgbClr val="F3F2F0"/>
          </a:solidFill>
          <a:ln w="12700">
            <a:solidFill>
              <a:srgbClr val="F3F2F0"/>
            </a:solidFill>
            <a:prstDash val="solid"/>
          </a:ln>
        </p:spPr>
      </p:sp>
      <p:sp>
        <p:nvSpPr>
          <p:cNvPr id="5" name="t1-value"/>
          <p:cNvSpPr txBox="1"/>
          <p:nvPr/>
        </p:nvSpPr>
        <p:spPr>
          <a:xfrm>
            <a:off x="7498080" y="1481328"/>
            <a:ext cx="393192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93 K vs 121 K</a:t>
            </a:r>
            <a:endParaRPr lang="en-US" sz="3600" dirty="0"/>
          </a:p>
        </p:txBody>
      </p:sp>
      <p:sp>
        <p:nvSpPr>
          <p:cNvPr id="6" name="t1-label"/>
          <p:cNvSpPr txBox="1"/>
          <p:nvPr/>
        </p:nvSpPr>
        <p:spPr>
          <a:xfrm>
            <a:off x="7498080" y="2194560"/>
            <a:ext cx="3931920" cy="502920"/>
          </a:xfrm>
          <a:prstGeom prst="rect">
            <a:avLst/>
          </a:prstGeom>
          <a:noFill/>
          <a:ln/>
        </p:spPr>
        <p:txBody>
          <a:bodyPr wrap="square" lIns="0" tIns="0" rIns="0" bIns="0" rtlCol="0" anchor="t"/>
          <a:lstStyle/>
          <a:p>
            <a:pPr indent="0" marL="0">
              <a:buNone/>
            </a:pPr>
            <a:r>
              <a:rPr lang="en-US" sz="1200" dirty="0">
                <a:solidFill>
                  <a:schemeClr val="tx1"/>
                </a:solidFill>
              </a:rPr>
              <a:t>MAE of this model vs Jayah's model at the six measured points (not fitted)</a:t>
            </a:r>
            <a:endParaRPr lang="en-US" sz="1200" dirty="0"/>
          </a:p>
        </p:txBody>
      </p:sp>
      <p:sp>
        <p:nvSpPr>
          <p:cNvPr id="7" name="Text 4"/>
          <p:cNvSpPr txBox="1"/>
          <p:nvPr/>
        </p:nvSpPr>
        <p:spPr>
          <a:xfrm>
            <a:off x="7315200" y="3017520"/>
            <a:ext cx="4297680" cy="310896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Gas enters at 1604 K, char at 1554 K; the phases equilibrate by 7.6 cm</a:t>
            </a:r>
            <a:endParaRPr lang="en-US" sz="1500" dirty="0"/>
          </a:p>
          <a:p>
            <a:pPr marL="342900" indent="-342900">
              <a:spcAft>
                <a:spcPts val="800"/>
              </a:spcAft>
              <a:buSzPct val="100000"/>
              <a:buChar char="•"/>
            </a:pPr>
            <a:r>
              <a:rPr lang="en-US" sz="1500" dirty="0">
                <a:solidFill>
                  <a:schemeClr val="tx1"/>
                </a:solidFill>
              </a:rPr>
              <a:t>71 % of the cooling is wall loss, the rest endothermic reaction</a:t>
            </a:r>
            <a:endParaRPr lang="en-US" sz="1500" dirty="0"/>
          </a:p>
          <a:p>
            <a:pPr marL="342900" indent="-342900">
              <a:spcAft>
                <a:spcPts val="800"/>
              </a:spcAft>
              <a:buSzPct val="100000"/>
              <a:buChar char="•"/>
            </a:pPr>
            <a:r>
              <a:rPr lang="en-US" sz="1500" dirty="0">
                <a:solidFill>
                  <a:schemeClr val="tx1"/>
                </a:solidFill>
              </a:rPr>
              <a:t>Largest errors: too hot at 4 cm, too cold at 16-20 cm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2D: a hot core and a cold wall layer</a:t>
            </a:r>
            <a:endParaRPr lang="en-US" sz="3000" dirty="0"/>
          </a:p>
        </p:txBody>
      </p:sp>
      <p:pic>
        <p:nvPicPr>
          <p:cNvPr id="3" name="contours-T" descr="fig05 temperature contours 2d">    </p:cNvPr>
          <p:cNvPicPr>
            <a:picLocks noChangeAspect="1"/>
          </p:cNvPicPr>
          <p:nvPr/>
        </p:nvPicPr>
        <p:blipFill>
          <a:blip r:embed="rId1"/>
          <a:stretch>
            <a:fillRect/>
          </a:stretch>
        </p:blipFill>
        <p:spPr>
          <a:xfrm>
            <a:off x="548640" y="1234440"/>
            <a:ext cx="5943600" cy="5003030"/>
          </a:xfrm>
          <a:prstGeom prst="rect">
            <a:avLst/>
          </a:prstGeom>
        </p:spPr>
      </p:pic>
      <p:sp>
        <p:nvSpPr>
          <p:cNvPr id="4" name="Text 1"/>
          <p:cNvSpPr txBox="1"/>
          <p:nvPr/>
        </p:nvSpPr>
        <p:spPr>
          <a:xfrm>
            <a:off x="6858000" y="1371600"/>
            <a:ext cx="4754880" cy="47548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Exit: 1292 K on the axis, 558 K in the wall cell</a:t>
            </a:r>
            <a:endParaRPr lang="en-US" sz="1500" dirty="0"/>
          </a:p>
          <a:p>
            <a:pPr marL="342900" indent="-342900">
              <a:spcAft>
                <a:spcPts val="800"/>
              </a:spcAft>
              <a:buSzPct val="100000"/>
              <a:buChar char="•"/>
            </a:pPr>
            <a:r>
              <a:rPr lang="en-US" sz="1500" dirty="0">
                <a:solidFill>
                  <a:schemeClr val="tx1"/>
                </a:solidFill>
              </a:rPr>
              <a:t>Core char is 99.8 % converted by 11 cm; near the wall only 30 %</a:t>
            </a:r>
            <a:endParaRPr lang="en-US" sz="1500" dirty="0"/>
          </a:p>
          <a:p>
            <a:pPr marL="342900" indent="-342900">
              <a:spcAft>
                <a:spcPts val="800"/>
              </a:spcAft>
              <a:buSzPct val="100000"/>
              <a:buChar char="•"/>
            </a:pPr>
            <a:r>
              <a:rPr lang="en-US" sz="1500" dirty="0">
                <a:solidFill>
                  <a:schemeClr val="tx1"/>
                </a:solidFill>
              </a:rPr>
              <a:t>Radial dispersion includes radiation through the bed, which dominates at these temperatures</a:t>
            </a:r>
            <a:endParaRPr lang="en-US" sz="1500" dirty="0"/>
          </a:p>
          <a:p>
            <a:pPr marL="342900" indent="-342900">
              <a:spcAft>
                <a:spcPts val="800"/>
              </a:spcAft>
              <a:buSzPct val="100000"/>
              <a:buChar char="•"/>
            </a:pPr>
            <a:r>
              <a:rPr lang="en-US" sz="1500" dirty="0">
                <a:solidFill>
                  <a:schemeClr val="tx1"/>
                </a:solidFill>
              </a:rPr>
              <a:t>It is a reduced-order dispersion model: no velocity profile, channelling or nozzle jets; not CFD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2D species: richest gas in the core</a:t>
            </a:r>
            <a:endParaRPr lang="en-US" sz="3000" dirty="0"/>
          </a:p>
        </p:txBody>
      </p:sp>
      <p:pic>
        <p:nvPicPr>
          <p:cNvPr id="3" name="contours-CO" descr="fig06 species contours fuel 2d">    </p:cNvPr>
          <p:cNvPicPr>
            <a:picLocks noChangeAspect="1"/>
          </p:cNvPicPr>
          <p:nvPr/>
        </p:nvPicPr>
        <p:blipFill>
          <a:blip r:embed="rId1"/>
          <a:stretch>
            <a:fillRect/>
          </a:stretch>
        </p:blipFill>
        <p:spPr>
          <a:xfrm>
            <a:off x="548640" y="1234440"/>
            <a:ext cx="4846320" cy="4079394"/>
          </a:xfrm>
          <a:prstGeom prst="rect">
            <a:avLst/>
          </a:prstGeom>
        </p:spPr>
      </p:pic>
      <p:pic>
        <p:nvPicPr>
          <p:cNvPr id="4" name="radial" descr="fig12 radial profiles 2d">    </p:cNvPr>
          <p:cNvPicPr>
            <a:picLocks noChangeAspect="1"/>
          </p:cNvPicPr>
          <p:nvPr/>
        </p:nvPicPr>
        <p:blipFill>
          <a:blip r:embed="rId2"/>
          <a:stretch>
            <a:fillRect/>
          </a:stretch>
        </p:blipFill>
        <p:spPr>
          <a:xfrm>
            <a:off x="5669280" y="1463040"/>
            <a:ext cx="5943600" cy="1849284"/>
          </a:xfrm>
          <a:prstGeom prst="rect">
            <a:avLst/>
          </a:prstGeom>
        </p:spPr>
      </p:pic>
      <p:sp>
        <p:nvSpPr>
          <p:cNvPr id="5" name="Text 1"/>
          <p:cNvSpPr txBox="1"/>
          <p:nvPr/>
        </p:nvSpPr>
        <p:spPr>
          <a:xfrm>
            <a:off x="5669280" y="3657600"/>
            <a:ext cx="5943600" cy="25603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Exit CO 25.4 % on the axis vs 20.4 % at the wall; H2 15.7 vs 13.0 %</a:t>
            </a:r>
            <a:endParaRPr lang="en-US" sz="1500" dirty="0"/>
          </a:p>
          <a:p>
            <a:pPr marL="342900" indent="-342900">
              <a:spcAft>
                <a:spcPts val="800"/>
              </a:spcAft>
              <a:buSzPct val="100000"/>
              <a:buChar char="•"/>
            </a:pPr>
            <a:r>
              <a:rPr lang="en-US" sz="1500" dirty="0">
                <a:solidFill>
                  <a:schemeClr val="tx1"/>
                </a:solidFill>
              </a:rPr>
              <a:t>Once core char is used up, the CO peak moves just off the axis where char is still reacting</a:t>
            </a:r>
            <a:endParaRPr lang="en-US" sz="1500" dirty="0"/>
          </a:p>
          <a:p>
            <a:pPr marL="342900" indent="-342900">
              <a:spcAft>
                <a:spcPts val="800"/>
              </a:spcAft>
              <a:buSzPct val="100000"/>
              <a:buChar char="•"/>
            </a:pPr>
            <a:r>
              <a:rPr lang="en-US" sz="1500" dirty="0">
                <a:solidFill>
                  <a:schemeClr val="tx1"/>
                </a:solidFill>
              </a:rPr>
              <a:t>Flow-weighted 2D exit: CO 22.8, H2 14.3, CO2 8.3 %</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Nine independent runs: right level, not the trends</a:t>
            </a:r>
            <a:endParaRPr lang="en-US" sz="3000" dirty="0"/>
          </a:p>
        </p:txBody>
      </p:sp>
      <p:pic>
        <p:nvPicPr>
          <p:cNvPr id="3" name="parity" descr="fig09 validation parity plots">    </p:cNvPr>
          <p:cNvPicPr>
            <a:picLocks noChangeAspect="1"/>
          </p:cNvPicPr>
          <p:nvPr/>
        </p:nvPicPr>
        <p:blipFill>
          <a:blip r:embed="rId1"/>
          <a:stretch>
            <a:fillRect/>
          </a:stretch>
        </p:blipFill>
        <p:spPr>
          <a:xfrm>
            <a:off x="548640" y="1188720"/>
            <a:ext cx="5486400" cy="4938254"/>
          </a:xfrm>
          <a:prstGeom prst="rect">
            <a:avLst/>
          </a:prstGeom>
        </p:spPr>
      </p:pic>
      <p:graphicFrame>
        <p:nvGraphicFramePr>
          <p:cNvPr id="12" name="stats-table"/>
          <p:cNvGraphicFramePr>
            <a:graphicFrameLocks noGrp="1"/>
          </p:cNvGraphicFramePr>
          <p:nvPr>
            <p:extLst>
              <p:ext uri="{D42A27DB-BD31-4B8C-83A1-F6EECF244321}">
                <p14:modId xmlns:p14="http://schemas.microsoft.com/office/powerpoint/2010/main" val="1579011935"/>
              </p:ext>
            </p:extLst>
          </p:nvPr>
        </p:nvGraphicFramePr>
        <p:xfrm>
          <a:off x="6400800" y="1371600"/>
          <a:ext cx="5212080" cy="914400"/>
        </p:xfrm>
        <a:graphic>
          <a:graphicData uri="http://schemas.openxmlformats.org/drawingml/2006/table">
            <a:tbl>
              <a:tblPr/>
              <a:tblGrid>
                <a:gridCol w="1005840"/>
                <a:gridCol w="1005840"/>
                <a:gridCol w="1005840"/>
                <a:gridCol w="1188720"/>
                <a:gridCol w="1005840"/>
              </a:tblGrid>
              <a:tr h="329184">
                <a:tc>
                  <a:txBody>
                    <a:bodyPr/>
                    <a:lstStyle/>
                    <a:p>
                      <a:pPr indent="0" marL="0">
                        <a:buNone/>
                      </a:pP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solidFill>
                      <a:srgbClr val="2B2A28"/>
                    </a:solidFill>
                  </a:tcPr>
                </a:tc>
                <a:tc>
                  <a:txBody>
                    <a:bodyPr/>
                    <a:lstStyle/>
                    <a:p>
                      <a:pPr indent="0" marL="0">
                        <a:buNone/>
                      </a:pPr>
                      <a:r>
                        <a:rPr lang="en-US" sz="1300" b="1" dirty="0">
                          <a:solidFill>
                            <a:srgbClr val="FFFFFF"/>
                          </a:solidFill>
                        </a:rPr>
                        <a:t>MAE</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solidFill>
                      <a:srgbClr val="2B2A28"/>
                    </a:solidFill>
                  </a:tcPr>
                </a:tc>
                <a:tc>
                  <a:txBody>
                    <a:bodyPr/>
                    <a:lstStyle/>
                    <a:p>
                      <a:pPr indent="0" marL="0">
                        <a:buNone/>
                      </a:pPr>
                      <a:r>
                        <a:rPr lang="en-US" sz="1300" b="1" dirty="0">
                          <a:solidFill>
                            <a:srgbClr val="FFFFFF"/>
                          </a:solidFill>
                        </a:rPr>
                        <a:t>Bias</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solidFill>
                      <a:srgbClr val="2B2A28"/>
                    </a:solidFill>
                  </a:tcPr>
                </a:tc>
                <a:tc>
                  <a:txBody>
                    <a:bodyPr/>
                    <a:lstStyle/>
                    <a:p>
                      <a:pPr indent="0" marL="0">
                        <a:buNone/>
                      </a:pPr>
                      <a:r>
                        <a:rPr lang="en-US" sz="1300" b="1" dirty="0">
                          <a:solidFill>
                            <a:srgbClr val="FFFFFF"/>
                          </a:solidFill>
                        </a:rPr>
                        <a:t>Meas. std</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solidFill>
                      <a:srgbClr val="2B2A28"/>
                    </a:solidFill>
                  </a:tcPr>
                </a:tc>
                <a:tc>
                  <a:txBody>
                    <a:bodyPr/>
                    <a:lstStyle/>
                    <a:p>
                      <a:pPr indent="0" marL="0">
                        <a:buNone/>
                      </a:pPr>
                      <a:r>
                        <a:rPr lang="en-US" sz="1300" b="1" dirty="0">
                          <a:solidFill>
                            <a:srgbClr val="FFFFFF"/>
                          </a:solidFill>
                        </a:rPr>
                        <a:t>R²</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solidFill>
                      <a:srgbClr val="2B2A28"/>
                    </a:solidFill>
                  </a:tcPr>
                </a:tc>
              </a:tr>
              <a:tr h="329184">
                <a:tc>
                  <a:txBody>
                    <a:bodyPr/>
                    <a:lstStyle/>
                    <a:p>
                      <a:pPr indent="0" marL="0">
                        <a:buNone/>
                      </a:pPr>
                      <a:r>
                        <a:rPr lang="en-US" sz="1300" dirty="0">
                          <a:solidFill>
                            <a:srgbClr val="1F1F1F"/>
                          </a:solidFill>
                        </a:rPr>
                        <a:t>CO</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1.42</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-0.15</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1.00</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-1.99</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r>
              <a:tr h="329184">
                <a:tc>
                  <a:txBody>
                    <a:bodyPr/>
                    <a:lstStyle/>
                    <a:p>
                      <a:pPr indent="0" marL="0">
                        <a:buNone/>
                      </a:pPr>
                      <a:r>
                        <a:rPr lang="en-US" sz="1300" dirty="0">
                          <a:solidFill>
                            <a:srgbClr val="1F1F1F"/>
                          </a:solidFill>
                        </a:rPr>
                        <a:t>H2</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2.01</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-1.87</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2.19</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-0.55</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r>
              <a:tr h="329184">
                <a:tc>
                  <a:txBody>
                    <a:bodyPr/>
                    <a:lstStyle/>
                    <a:p>
                      <a:pPr indent="0" marL="0">
                        <a:buNone/>
                      </a:pPr>
                      <a:r>
                        <a:rPr lang="en-US" sz="1300" dirty="0">
                          <a:solidFill>
                            <a:srgbClr val="1F1F1F"/>
                          </a:solidFill>
                        </a:rPr>
                        <a:t>CO2</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0.62</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-0.19</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0.80</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0.04</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r>
              <a:tr h="329184">
                <a:tc>
                  <a:txBody>
                    <a:bodyPr/>
                    <a:lstStyle/>
                    <a:p>
                      <a:pPr indent="0" marL="0">
                        <a:buNone/>
                      </a:pPr>
                      <a:r>
                        <a:rPr lang="en-US" sz="1300" dirty="0">
                          <a:solidFill>
                            <a:srgbClr val="1F1F1F"/>
                          </a:solidFill>
                        </a:rPr>
                        <a:t>N2</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2.84</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+2.31</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2.39</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-0.66</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r>
              <a:tr h="329184">
                <a:tc>
                  <a:txBody>
                    <a:bodyPr/>
                    <a:lstStyle/>
                    <a:p>
                      <a:pPr indent="0" marL="0">
                        <a:buNone/>
                      </a:pPr>
                      <a:r>
                        <a:rPr lang="en-US" sz="1300" dirty="0">
                          <a:solidFill>
                            <a:srgbClr val="1F1F1F"/>
                          </a:solidFill>
                        </a:rPr>
                        <a:t>LHV</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0.30</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-0.27</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0.24</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c>
                  <a:txBody>
                    <a:bodyPr/>
                    <a:lstStyle/>
                    <a:p>
                      <a:pPr indent="0" marL="0">
                        <a:buNone/>
                      </a:pPr>
                      <a:r>
                        <a:rPr lang="en-US" sz="1300" dirty="0">
                          <a:solidFill>
                            <a:srgbClr val="1F1F1F"/>
                          </a:solidFill>
                        </a:rPr>
                        <a:t>-1.21</a:t>
                      </a:r>
                      <a:endParaRPr lang="en-US" sz="1300" dirty="0"/>
                    </a:p>
                  </a:txBody>
                  <a:tcPr marL="91440" marR="91440" marT="45720" marB="45720">
                    <a:lnL w="9525" cap="flat" cmpd="sng" algn="ctr">
                      <a:solidFill>
                        <a:srgbClr val="D9D8D4"/>
                      </a:solidFill>
                      <a:prstDash val="solid"/>
                      <a:round/>
                      <a:headEnd type="none" w="med" len="med"/>
                      <a:tailEnd type="none" w="med" len="med"/>
                    </a:lnL>
                    <a:lnR w="9525" cap="flat" cmpd="sng" algn="ctr">
                      <a:solidFill>
                        <a:srgbClr val="D9D8D4"/>
                      </a:solidFill>
                      <a:prstDash val="solid"/>
                      <a:round/>
                      <a:headEnd type="none" w="med" len="med"/>
                      <a:tailEnd type="none" w="med" len="med"/>
                    </a:lnR>
                    <a:lnT w="9525" cap="flat" cmpd="sng" algn="ctr">
                      <a:solidFill>
                        <a:srgbClr val="D9D8D4"/>
                      </a:solidFill>
                      <a:prstDash val="solid"/>
                      <a:round/>
                      <a:headEnd type="none" w="med" len="med"/>
                      <a:tailEnd type="none" w="med" len="med"/>
                    </a:lnT>
                    <a:lnB w="9525" cap="flat" cmpd="sng" algn="ctr">
                      <a:solidFill>
                        <a:srgbClr val="D9D8D4"/>
                      </a:solidFill>
                      <a:prstDash val="solid"/>
                      <a:round/>
                      <a:headEnd type="none" w="med" len="med"/>
                      <a:tailEnd type="none" w="med" len="med"/>
                    </a:lnB>
                  </a:tcPr>
                </a:tc>
              </a:tr>
            </a:tbl>
          </a:graphicData>
        </a:graphic>
      </p:graphicFrame>
      <p:sp>
        <p:nvSpPr>
          <p:cNvPr id="5" name="Text 1"/>
          <p:cNvSpPr txBox="1"/>
          <p:nvPr/>
        </p:nvSpPr>
        <p:spPr>
          <a:xfrm>
            <a:off x="6400800" y="3657600"/>
            <a:ext cx="5212080" cy="256032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chemeClr val="tx1"/>
                </a:solidFill>
              </a:rPr>
              <a:t>Errors in %-points (LHV in MJ/Nm³); all statistics computed in code</a:t>
            </a:r>
            <a:endParaRPr lang="en-US" sz="1400" dirty="0"/>
          </a:p>
          <a:p>
            <a:pPr marL="342900" indent="-342900">
              <a:spcAft>
                <a:spcPts val="800"/>
              </a:spcAft>
              <a:buSzPct val="100000"/>
              <a:buChar char="•"/>
            </a:pPr>
            <a:r>
              <a:rPr lang="en-US" sz="1400" dirty="0">
                <a:solidFill>
                  <a:schemeClr val="tx1"/>
                </a:solidFill>
              </a:rPr>
              <a:t>H2 is too low in Runs 1-4; N2 too high, i.e. less gas per unit air</a:t>
            </a:r>
            <a:endParaRPr lang="en-US" sz="1400" dirty="0"/>
          </a:p>
          <a:p>
            <a:pPr marL="342900" indent="-342900">
              <a:spcAft>
                <a:spcPts val="800"/>
              </a:spcAft>
              <a:buSzPct val="100000"/>
              <a:buChar char="•"/>
            </a:pPr>
            <a:r>
              <a:rPr lang="en-US" sz="1400" dirty="0">
                <a:solidFill>
                  <a:schemeClr val="tx1"/>
                </a:solidFill>
              </a:rPr>
              <a:t>R² &lt; 0 because the measured spread (1-2 %-pts) is about the size of the error, and the model's CO-vs-AFR trend is not in the data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Heating value fits; gas flow cannot be tested properly</a:t>
            </a:r>
            <a:endParaRPr lang="en-US" sz="3000" dirty="0"/>
          </a:p>
        </p:txBody>
      </p:sp>
      <p:pic>
        <p:nvPicPr>
          <p:cNvPr id="3" name="lhv-flow" descr="fig10 principal cases comparison">    </p:cNvPr>
          <p:cNvPicPr>
            <a:picLocks noChangeAspect="1"/>
          </p:cNvPicPr>
          <p:nvPr/>
        </p:nvPicPr>
        <p:blipFill>
          <a:blip r:embed="rId1"/>
          <a:stretch>
            <a:fillRect/>
          </a:stretch>
        </p:blipFill>
        <p:spPr>
          <a:xfrm>
            <a:off x="548640" y="1188720"/>
            <a:ext cx="7132320" cy="4589653"/>
          </a:xfrm>
          <a:prstGeom prst="rect">
            <a:avLst/>
          </a:prstGeom>
        </p:spPr>
      </p:pic>
      <p:sp>
        <p:nvSpPr>
          <p:cNvPr id="4" name="Text 1"/>
          <p:cNvSpPr txBox="1"/>
          <p:nvPr/>
        </p:nvSpPr>
        <p:spPr>
          <a:xfrm>
            <a:off x="7955280" y="1371600"/>
            <a:ext cx="3657600" cy="48463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LHV within 0.30 MJ/Nm³ on average</a:t>
            </a:r>
            <a:endParaRPr lang="en-US" sz="1500" dirty="0"/>
          </a:p>
          <a:p>
            <a:pPr marL="342900" indent="-342900">
              <a:spcAft>
                <a:spcPts val="800"/>
              </a:spcAft>
              <a:buSzPct val="100000"/>
              <a:buChar char="•"/>
            </a:pPr>
            <a:r>
              <a:rPr lang="en-US" sz="1500" dirty="0">
                <a:solidFill>
                  <a:schemeClr val="tx1"/>
                </a:solidFill>
              </a:rPr>
              <a:t>Simulated dry flow is 66-81 % of the measured flow</a:t>
            </a:r>
            <a:endParaRPr lang="en-US" sz="1500" dirty="0"/>
          </a:p>
          <a:p>
            <a:pPr marL="342900" indent="-342900">
              <a:spcAft>
                <a:spcPts val="800"/>
              </a:spcAft>
              <a:buSzPct val="100000"/>
              <a:buChar char="•"/>
            </a:pPr>
            <a:r>
              <a:rPr lang="en-US" sz="1500" dirty="0">
                <a:solidFill>
                  <a:schemeClr val="tx1"/>
                </a:solidFill>
              </a:rPr>
              <a:t>The paper gives no per-run feed rate and does not say whether the measured flow is wet, dry or at what temperature</a:t>
            </a:r>
            <a:endParaRPr lang="en-US" sz="1500" dirty="0"/>
          </a:p>
          <a:p>
            <a:pPr marL="342900" indent="-342900">
              <a:spcAft>
                <a:spcPts val="800"/>
              </a:spcAft>
              <a:buSzPct val="100000"/>
              <a:buChar char="•"/>
            </a:pPr>
            <a:r>
              <a:rPr lang="en-US" sz="1500" dirty="0">
                <a:solidFill>
                  <a:schemeClr val="tx1"/>
                </a:solidFill>
              </a:rPr>
              <a:t>Matching the flow would need 23.0-28.3 kg/h of dry wood instead of the assumed 18.6 kg/h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Parametric study: same directions, different optimum</a:t>
            </a:r>
            <a:endParaRPr lang="en-US" sz="3000" dirty="0"/>
          </a:p>
        </p:txBody>
      </p:sp>
      <p:pic>
        <p:nvPicPr>
          <p:cNvPr id="3" name="table7" descr="fig08 table7 replication">    </p:cNvPr>
          <p:cNvPicPr>
            <a:picLocks noChangeAspect="1"/>
          </p:cNvPicPr>
          <p:nvPr/>
        </p:nvPicPr>
        <p:blipFill>
          <a:blip r:embed="rId1"/>
          <a:stretch>
            <a:fillRect/>
          </a:stretch>
        </p:blipFill>
        <p:spPr>
          <a:xfrm>
            <a:off x="548640" y="1188720"/>
            <a:ext cx="7680960" cy="4404220"/>
          </a:xfrm>
          <a:prstGeom prst="rect">
            <a:avLst/>
          </a:prstGeom>
        </p:spPr>
      </p:pic>
      <p:sp>
        <p:nvSpPr>
          <p:cNvPr id="4" name="Text 1"/>
          <p:cNvSpPr txBox="1"/>
          <p:nvPr/>
        </p:nvSpPr>
        <p:spPr>
          <a:xfrm>
            <a:off x="8503920" y="1371600"/>
            <a:ext cx="3108960" cy="484632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chemeClr val="tx1"/>
                </a:solidFill>
              </a:rPr>
              <a:t>Base case at 22 cm: 54.6 % (Jayah 56.0 %)</a:t>
            </a:r>
            <a:endParaRPr lang="en-US" sz="1400" dirty="0"/>
          </a:p>
          <a:p>
            <a:pPr marL="342900" indent="-342900">
              <a:spcAft>
                <a:spcPts val="800"/>
              </a:spcAft>
              <a:buSzPct val="100000"/>
              <a:buChar char="•"/>
            </a:pPr>
            <a:r>
              <a:rPr lang="en-US" sz="1400" dirty="0">
                <a:solidFill>
                  <a:schemeClr val="tx1"/>
                </a:solidFill>
              </a:rPr>
              <a:t>Every effect has Jayah's sign; heat loss is the strongest lever</a:t>
            </a:r>
            <a:endParaRPr lang="en-US" sz="1400" dirty="0"/>
          </a:p>
          <a:p>
            <a:pPr marL="342900" indent="-342900">
              <a:spcAft>
                <a:spcPts val="800"/>
              </a:spcAft>
              <a:buSzPct val="100000"/>
              <a:buChar char="•"/>
            </a:pPr>
            <a:r>
              <a:rPr lang="en-US" sz="1400" dirty="0">
                <a:solidFill>
                  <a:schemeClr val="tx1"/>
                </a:solidFill>
              </a:rPr>
              <a:t>Optimum length 11 cm, not 32-33 cm: the bed is too cold for gasification beyond ~12 cm</a:t>
            </a:r>
            <a:endParaRPr lang="en-US" sz="1400" dirty="0"/>
          </a:p>
          <a:p>
            <a:pPr marL="342900" indent="-342900">
              <a:spcAft>
                <a:spcPts val="800"/>
              </a:spcAft>
              <a:buSzPct val="100000"/>
              <a:buChar char="•"/>
            </a:pPr>
            <a:r>
              <a:rPr lang="en-US" sz="1400" dirty="0">
                <a:solidFill>
                  <a:schemeClr val="tx1"/>
                </a:solidFill>
              </a:rPr>
              <a:t>At 5 % heat loss the optimum becomes 22 cm and efficiency 66.1 %</a:t>
            </a:r>
            <a:endParaRPr lang="en-US" sz="1400" dirty="0"/>
          </a:p>
        </p:txBody>
      </p:sp>
      <p:sp>
        <p:nvSpPr>
          <p:cNvPr id="5" name="recommendation"/>
          <p:cNvSpPr txBox="1"/>
          <p:nvPr/>
        </p:nvSpPr>
        <p:spPr>
          <a:xfrm>
            <a:off x="548640" y="5715000"/>
            <a:ext cx="7680960" cy="502920"/>
          </a:xfrm>
          <a:prstGeom prst="rect">
            <a:avLst/>
          </a:prstGeom>
          <a:noFill/>
          <a:ln/>
        </p:spPr>
        <p:txBody>
          <a:bodyPr wrap="square" lIns="0" tIns="0" rIns="0" bIns="0" rtlCol="0" anchor="ctr"/>
          <a:lstStyle/>
          <a:p>
            <a:pPr indent="0" marL="0">
              <a:buNone/>
            </a:pPr>
            <a:r>
              <a:rPr lang="en-US" sz="1500" b="1" dirty="0">
                <a:solidFill>
                  <a:schemeClr val="accent6"/>
                </a:solidFill>
              </a:rPr>
              <a:t>Recommendation: insulate the hearth first; the existing 22 cm is then close to optimal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Limitations we want to be clear about</a:t>
            </a:r>
            <a:endParaRPr lang="en-US" sz="3000" dirty="0"/>
          </a:p>
        </p:txBody>
      </p:sp>
      <p:sp>
        <p:nvSpPr>
          <p:cNvPr id="3" name="lim0"/>
          <p:cNvSpPr/>
          <p:nvPr/>
        </p:nvSpPr>
        <p:spPr>
          <a:xfrm>
            <a:off x="548640" y="1325880"/>
            <a:ext cx="5440680" cy="1417320"/>
          </a:xfrm>
          <a:prstGeom prst="roundRect">
            <a:avLst>
              <a:gd name="adj" fmla="val 5161"/>
            </a:avLst>
          </a:prstGeom>
          <a:solidFill>
            <a:srgbClr val="F3F2F0"/>
          </a:solidFill>
          <a:ln w="12700">
            <a:solidFill>
              <a:srgbClr val="F3F2F0"/>
            </a:solidFill>
            <a:prstDash val="solid"/>
          </a:ln>
        </p:spPr>
      </p:sp>
      <p:sp>
        <p:nvSpPr>
          <p:cNvPr id="4" name="limh0"/>
          <p:cNvSpPr txBox="1"/>
          <p:nvPr/>
        </p:nvSpPr>
        <p:spPr>
          <a:xfrm>
            <a:off x="777240" y="1463040"/>
            <a:ext cx="4983480" cy="365760"/>
          </a:xfrm>
          <a:prstGeom prst="rect">
            <a:avLst/>
          </a:prstGeom>
          <a:noFill/>
          <a:ln/>
        </p:spPr>
        <p:txBody>
          <a:bodyPr wrap="square" lIns="0" tIns="0" rIns="0" bIns="0" rtlCol="0" anchor="ctr"/>
          <a:lstStyle/>
          <a:p>
            <a:pPr indent="0" marL="0">
              <a:buNone/>
            </a:pPr>
            <a:r>
              <a:rPr lang="en-US" sz="1600" b="1" dirty="0">
                <a:solidFill>
                  <a:schemeClr val="accent1"/>
                </a:solidFill>
              </a:rPr>
              <a:t>Throat temperature</a:t>
            </a:r>
            <a:endParaRPr lang="en-US" sz="1600" dirty="0"/>
          </a:p>
        </p:txBody>
      </p:sp>
      <p:sp>
        <p:nvSpPr>
          <p:cNvPr id="5" name="limt0"/>
          <p:cNvSpPr txBox="1"/>
          <p:nvPr/>
        </p:nvSpPr>
        <p:spPr>
          <a:xfrm>
            <a:off x="777240" y="1874520"/>
            <a:ext cx="4983480" cy="777240"/>
          </a:xfrm>
          <a:prstGeom prst="rect">
            <a:avLst/>
          </a:prstGeom>
          <a:noFill/>
          <a:ln/>
        </p:spPr>
        <p:txBody>
          <a:bodyPr wrap="square" lIns="0" tIns="0" rIns="0" bIns="0" rtlCol="0" anchor="t"/>
          <a:lstStyle/>
          <a:p>
            <a:pPr indent="0" marL="0">
              <a:buNone/>
            </a:pPr>
            <a:r>
              <a:rPr lang="en-US" sz="1400" dirty="0">
                <a:solidFill>
                  <a:schemeClr val="tx1"/>
                </a:solidFill>
              </a:rPr>
              <a:t>Absolute level taken from Jayah (1604 K); our mixed energy balance gives 1345 K</a:t>
            </a:r>
            <a:endParaRPr lang="en-US" sz="1400" dirty="0"/>
          </a:p>
        </p:txBody>
      </p:sp>
      <p:sp>
        <p:nvSpPr>
          <p:cNvPr id="6" name="lim1"/>
          <p:cNvSpPr/>
          <p:nvPr/>
        </p:nvSpPr>
        <p:spPr>
          <a:xfrm>
            <a:off x="6172200" y="1325880"/>
            <a:ext cx="5440680" cy="1417320"/>
          </a:xfrm>
          <a:prstGeom prst="roundRect">
            <a:avLst>
              <a:gd name="adj" fmla="val 5161"/>
            </a:avLst>
          </a:prstGeom>
          <a:solidFill>
            <a:srgbClr val="F3F2F0"/>
          </a:solidFill>
          <a:ln w="12700">
            <a:solidFill>
              <a:srgbClr val="F3F2F0"/>
            </a:solidFill>
            <a:prstDash val="solid"/>
          </a:ln>
        </p:spPr>
      </p:sp>
      <p:sp>
        <p:nvSpPr>
          <p:cNvPr id="7" name="limh1"/>
          <p:cNvSpPr txBox="1"/>
          <p:nvPr/>
        </p:nvSpPr>
        <p:spPr>
          <a:xfrm>
            <a:off x="6400800" y="1463040"/>
            <a:ext cx="4983480" cy="365760"/>
          </a:xfrm>
          <a:prstGeom prst="rect">
            <a:avLst/>
          </a:prstGeom>
          <a:noFill/>
          <a:ln/>
        </p:spPr>
        <p:txBody>
          <a:bodyPr wrap="square" lIns="0" tIns="0" rIns="0" bIns="0" rtlCol="0" anchor="ctr"/>
          <a:lstStyle/>
          <a:p>
            <a:pPr indent="0" marL="0">
              <a:buNone/>
            </a:pPr>
            <a:r>
              <a:rPr lang="en-US" sz="1600" b="1" dirty="0">
                <a:solidFill>
                  <a:schemeClr val="accent1"/>
                </a:solidFill>
              </a:rPr>
              <a:t>Water-gas shift</a:t>
            </a:r>
            <a:endParaRPr lang="en-US" sz="1600" dirty="0"/>
          </a:p>
        </p:txBody>
      </p:sp>
      <p:sp>
        <p:nvSpPr>
          <p:cNvPr id="8" name="limt1"/>
          <p:cNvSpPr txBox="1"/>
          <p:nvPr/>
        </p:nvSpPr>
        <p:spPr>
          <a:xfrm>
            <a:off x="6400800" y="1874520"/>
            <a:ext cx="4983480" cy="777240"/>
          </a:xfrm>
          <a:prstGeom prst="rect">
            <a:avLst/>
          </a:prstGeom>
          <a:noFill/>
          <a:ln/>
        </p:spPr>
        <p:txBody>
          <a:bodyPr wrap="square" lIns="0" tIns="0" rIns="0" bIns="0" rtlCol="0" anchor="t"/>
          <a:lstStyle/>
          <a:p>
            <a:pPr indent="0" marL="0">
              <a:buNone/>
            </a:pPr>
            <a:r>
              <a:rPr lang="en-US" sz="1400" dirty="0">
                <a:solidFill>
                  <a:schemeClr val="tx1"/>
                </a:solidFill>
              </a:rPr>
              <a:t>Rate units are ambiguous in the literature; the fast reading gives CO 9 %, H2 23 % on the calibration run</a:t>
            </a:r>
            <a:endParaRPr lang="en-US" sz="1400" dirty="0"/>
          </a:p>
        </p:txBody>
      </p:sp>
      <p:sp>
        <p:nvSpPr>
          <p:cNvPr id="9" name="lim2"/>
          <p:cNvSpPr/>
          <p:nvPr/>
        </p:nvSpPr>
        <p:spPr>
          <a:xfrm>
            <a:off x="548640" y="2926080"/>
            <a:ext cx="5440680" cy="1417320"/>
          </a:xfrm>
          <a:prstGeom prst="roundRect">
            <a:avLst>
              <a:gd name="adj" fmla="val 5161"/>
            </a:avLst>
          </a:prstGeom>
          <a:solidFill>
            <a:srgbClr val="F3F2F0"/>
          </a:solidFill>
          <a:ln w="12700">
            <a:solidFill>
              <a:srgbClr val="F3F2F0"/>
            </a:solidFill>
            <a:prstDash val="solid"/>
          </a:ln>
        </p:spPr>
      </p:sp>
      <p:sp>
        <p:nvSpPr>
          <p:cNvPr id="10" name="limh2"/>
          <p:cNvSpPr txBox="1"/>
          <p:nvPr/>
        </p:nvSpPr>
        <p:spPr>
          <a:xfrm>
            <a:off x="777240" y="3063240"/>
            <a:ext cx="4983480" cy="365760"/>
          </a:xfrm>
          <a:prstGeom prst="rect">
            <a:avLst/>
          </a:prstGeom>
          <a:noFill/>
          <a:ln/>
        </p:spPr>
        <p:txBody>
          <a:bodyPr wrap="square" lIns="0" tIns="0" rIns="0" bIns="0" rtlCol="0" anchor="ctr"/>
          <a:lstStyle/>
          <a:p>
            <a:pPr indent="0" marL="0">
              <a:buNone/>
            </a:pPr>
            <a:r>
              <a:rPr lang="en-US" sz="1600" b="1" dirty="0">
                <a:solidFill>
                  <a:schemeClr val="accent1"/>
                </a:solidFill>
              </a:rPr>
              <a:t>Calibration</a:t>
            </a:r>
            <a:endParaRPr lang="en-US" sz="1600" dirty="0"/>
          </a:p>
        </p:txBody>
      </p:sp>
      <p:sp>
        <p:nvSpPr>
          <p:cNvPr id="11" name="limt2"/>
          <p:cNvSpPr txBox="1"/>
          <p:nvPr/>
        </p:nvSpPr>
        <p:spPr>
          <a:xfrm>
            <a:off x="777240" y="3474720"/>
            <a:ext cx="4983480" cy="777240"/>
          </a:xfrm>
          <a:prstGeom prst="rect">
            <a:avLst/>
          </a:prstGeom>
          <a:noFill/>
          <a:ln/>
        </p:spPr>
        <p:txBody>
          <a:bodyPr wrap="square" lIns="0" tIns="0" rIns="0" bIns="0" rtlCol="0" anchor="t"/>
          <a:lstStyle/>
          <a:p>
            <a:pPr indent="0" marL="0">
              <a:buNone/>
            </a:pPr>
            <a:r>
              <a:rPr lang="en-US" sz="1400" dirty="0">
                <a:solidFill>
                  <a:schemeClr val="tx1"/>
                </a:solidFill>
              </a:rPr>
              <a:t>Effective U = 114 W/m²K puts all measured loss in the hearth; calibration-run char conversion is only 17 %</a:t>
            </a:r>
            <a:endParaRPr lang="en-US" sz="1400" dirty="0"/>
          </a:p>
        </p:txBody>
      </p:sp>
      <p:sp>
        <p:nvSpPr>
          <p:cNvPr id="12" name="lim3"/>
          <p:cNvSpPr/>
          <p:nvPr/>
        </p:nvSpPr>
        <p:spPr>
          <a:xfrm>
            <a:off x="6172200" y="2926080"/>
            <a:ext cx="5440680" cy="1417320"/>
          </a:xfrm>
          <a:prstGeom prst="roundRect">
            <a:avLst>
              <a:gd name="adj" fmla="val 5161"/>
            </a:avLst>
          </a:prstGeom>
          <a:solidFill>
            <a:srgbClr val="F3F2F0"/>
          </a:solidFill>
          <a:ln w="12700">
            <a:solidFill>
              <a:srgbClr val="F3F2F0"/>
            </a:solidFill>
            <a:prstDash val="solid"/>
          </a:ln>
        </p:spPr>
      </p:sp>
      <p:sp>
        <p:nvSpPr>
          <p:cNvPr id="13" name="limh3"/>
          <p:cNvSpPr txBox="1"/>
          <p:nvPr/>
        </p:nvSpPr>
        <p:spPr>
          <a:xfrm>
            <a:off x="6400800" y="3063240"/>
            <a:ext cx="4983480" cy="365760"/>
          </a:xfrm>
          <a:prstGeom prst="rect">
            <a:avLst/>
          </a:prstGeom>
          <a:noFill/>
          <a:ln/>
        </p:spPr>
        <p:txBody>
          <a:bodyPr wrap="square" lIns="0" tIns="0" rIns="0" bIns="0" rtlCol="0" anchor="ctr"/>
          <a:lstStyle/>
          <a:p>
            <a:pPr indent="0" marL="0">
              <a:buNone/>
            </a:pPr>
            <a:r>
              <a:rPr lang="en-US" sz="1600" b="1" dirty="0">
                <a:solidFill>
                  <a:schemeClr val="accent1"/>
                </a:solidFill>
              </a:rPr>
              <a:t>Paper data gaps</a:t>
            </a:r>
            <a:endParaRPr lang="en-US" sz="1600" dirty="0"/>
          </a:p>
        </p:txBody>
      </p:sp>
      <p:sp>
        <p:nvSpPr>
          <p:cNvPr id="14" name="limt3"/>
          <p:cNvSpPr txBox="1"/>
          <p:nvPr/>
        </p:nvSpPr>
        <p:spPr>
          <a:xfrm>
            <a:off x="6400800" y="3474720"/>
            <a:ext cx="4983480" cy="777240"/>
          </a:xfrm>
          <a:prstGeom prst="rect">
            <a:avLst/>
          </a:prstGeom>
          <a:noFill/>
          <a:ln/>
        </p:spPr>
        <p:txBody>
          <a:bodyPr wrap="square" lIns="0" tIns="0" rIns="0" bIns="0" rtlCol="0" anchor="t"/>
          <a:lstStyle/>
          <a:p>
            <a:pPr indent="0" marL="0">
              <a:buNone/>
            </a:pPr>
            <a:r>
              <a:rPr lang="en-US" sz="1400" dirty="0">
                <a:solidFill>
                  <a:schemeClr val="tx1"/>
                </a:solidFill>
              </a:rPr>
              <a:t>No per-run feed rate or flow basis; chip size of Run 7 inconsistent; Fig. 5 trial conditions not stated</a:t>
            </a:r>
            <a:endParaRPr lang="en-US" sz="1400" dirty="0"/>
          </a:p>
        </p:txBody>
      </p:sp>
      <p:sp>
        <p:nvSpPr>
          <p:cNvPr id="15" name="lim4"/>
          <p:cNvSpPr/>
          <p:nvPr/>
        </p:nvSpPr>
        <p:spPr>
          <a:xfrm>
            <a:off x="548640" y="4526280"/>
            <a:ext cx="5440680" cy="1417320"/>
          </a:xfrm>
          <a:prstGeom prst="roundRect">
            <a:avLst>
              <a:gd name="adj" fmla="val 5161"/>
            </a:avLst>
          </a:prstGeom>
          <a:solidFill>
            <a:srgbClr val="F3F2F0"/>
          </a:solidFill>
          <a:ln w="12700">
            <a:solidFill>
              <a:srgbClr val="F3F2F0"/>
            </a:solidFill>
            <a:prstDash val="solid"/>
          </a:ln>
        </p:spPr>
      </p:sp>
      <p:sp>
        <p:nvSpPr>
          <p:cNvPr id="16" name="limh4"/>
          <p:cNvSpPr txBox="1"/>
          <p:nvPr/>
        </p:nvSpPr>
        <p:spPr>
          <a:xfrm>
            <a:off x="777240" y="4663440"/>
            <a:ext cx="4983480" cy="365760"/>
          </a:xfrm>
          <a:prstGeom prst="rect">
            <a:avLst/>
          </a:prstGeom>
          <a:noFill/>
          <a:ln/>
        </p:spPr>
        <p:txBody>
          <a:bodyPr wrap="square" lIns="0" tIns="0" rIns="0" bIns="0" rtlCol="0" anchor="ctr"/>
          <a:lstStyle/>
          <a:p>
            <a:pPr indent="0" marL="0">
              <a:buNone/>
            </a:pPr>
            <a:r>
              <a:rPr lang="en-US" sz="1600" b="1" dirty="0">
                <a:solidFill>
                  <a:schemeClr val="accent1"/>
                </a:solidFill>
              </a:rPr>
              <a:t>CH4 and tar</a:t>
            </a:r>
            <a:endParaRPr lang="en-US" sz="1600" dirty="0"/>
          </a:p>
        </p:txBody>
      </p:sp>
      <p:sp>
        <p:nvSpPr>
          <p:cNvPr id="17" name="limt4"/>
          <p:cNvSpPr txBox="1"/>
          <p:nvPr/>
        </p:nvSpPr>
        <p:spPr>
          <a:xfrm>
            <a:off x="777240" y="5074920"/>
            <a:ext cx="4983480" cy="777240"/>
          </a:xfrm>
          <a:prstGeom prst="rect">
            <a:avLst/>
          </a:prstGeom>
          <a:noFill/>
          <a:ln/>
        </p:spPr>
        <p:txBody>
          <a:bodyPr wrap="square" lIns="0" tIns="0" rIns="0" bIns="0" rtlCol="0" anchor="t"/>
          <a:lstStyle/>
          <a:p>
            <a:pPr indent="0" marL="0">
              <a:buNone/>
            </a:pPr>
            <a:r>
              <a:rPr lang="en-US" sz="1400" dirty="0">
                <a:solidFill>
                  <a:schemeClr val="tx1"/>
                </a:solidFill>
              </a:rPr>
              <a:t>CH4 imposed (as in Jayah); tar not modelled</a:t>
            </a:r>
            <a:endParaRPr lang="en-US" sz="1400" dirty="0"/>
          </a:p>
        </p:txBody>
      </p:sp>
      <p:sp>
        <p:nvSpPr>
          <p:cNvPr id="18" name="lim5"/>
          <p:cNvSpPr/>
          <p:nvPr/>
        </p:nvSpPr>
        <p:spPr>
          <a:xfrm>
            <a:off x="6172200" y="4526280"/>
            <a:ext cx="5440680" cy="1417320"/>
          </a:xfrm>
          <a:prstGeom prst="roundRect">
            <a:avLst>
              <a:gd name="adj" fmla="val 5161"/>
            </a:avLst>
          </a:prstGeom>
          <a:solidFill>
            <a:srgbClr val="F3F2F0"/>
          </a:solidFill>
          <a:ln w="12700">
            <a:solidFill>
              <a:srgbClr val="F3F2F0"/>
            </a:solidFill>
            <a:prstDash val="solid"/>
          </a:ln>
        </p:spPr>
      </p:sp>
      <p:sp>
        <p:nvSpPr>
          <p:cNvPr id="19" name="limh5"/>
          <p:cNvSpPr txBox="1"/>
          <p:nvPr/>
        </p:nvSpPr>
        <p:spPr>
          <a:xfrm>
            <a:off x="6400800" y="4663440"/>
            <a:ext cx="4983480" cy="365760"/>
          </a:xfrm>
          <a:prstGeom prst="rect">
            <a:avLst/>
          </a:prstGeom>
          <a:noFill/>
          <a:ln/>
        </p:spPr>
        <p:txBody>
          <a:bodyPr wrap="square" lIns="0" tIns="0" rIns="0" bIns="0" rtlCol="0" anchor="ctr"/>
          <a:lstStyle/>
          <a:p>
            <a:pPr indent="0" marL="0">
              <a:buNone/>
            </a:pPr>
            <a:r>
              <a:rPr lang="en-US" sz="1600" b="1" dirty="0">
                <a:solidFill>
                  <a:schemeClr val="accent1"/>
                </a:solidFill>
              </a:rPr>
              <a:t>2D model</a:t>
            </a:r>
            <a:endParaRPr lang="en-US" sz="1600" dirty="0"/>
          </a:p>
        </p:txBody>
      </p:sp>
      <p:sp>
        <p:nvSpPr>
          <p:cNvPr id="20" name="limt5"/>
          <p:cNvSpPr txBox="1"/>
          <p:nvPr/>
        </p:nvSpPr>
        <p:spPr>
          <a:xfrm>
            <a:off x="6400800" y="5074920"/>
            <a:ext cx="4983480" cy="777240"/>
          </a:xfrm>
          <a:prstGeom prst="rect">
            <a:avLst/>
          </a:prstGeom>
          <a:noFill/>
          <a:ln/>
        </p:spPr>
        <p:txBody>
          <a:bodyPr wrap="square" lIns="0" tIns="0" rIns="0" bIns="0" rtlCol="0" anchor="t"/>
          <a:lstStyle/>
          <a:p>
            <a:pPr indent="0" marL="0">
              <a:buNone/>
            </a:pPr>
            <a:r>
              <a:rPr lang="en-US" sz="1400" dirty="0">
                <a:solidFill>
                  <a:schemeClr val="tx1"/>
                </a:solidFill>
              </a:rPr>
              <a:t>Radial dispersion only, not CFD; no velocity profile or channelling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Conclusions</a:t>
            </a:r>
            <a:endParaRPr lang="en-US" sz="3600" dirty="0"/>
          </a:p>
        </p:txBody>
      </p:sp>
      <p:sp>
        <p:nvSpPr>
          <p:cNvPr id="3" name="conclusions"/>
          <p:cNvSpPr txBox="1"/>
          <p:nvPr/>
        </p:nvSpPr>
        <p:spPr>
          <a:xfrm>
            <a:off x="731520" y="1645920"/>
            <a:ext cx="10698480" cy="42062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Calibration run reproduced to 0.43 %-pts, as well as Jayah's own model</a:t>
            </a:r>
            <a:endParaRPr lang="en-US" sz="1800" dirty="0"/>
          </a:p>
          <a:p>
            <a:pPr marL="342900" indent="-342900">
              <a:spcAft>
                <a:spcPts val="1200"/>
              </a:spcAft>
              <a:buSzPct val="100000"/>
              <a:buChar char="•"/>
            </a:pPr>
            <a:r>
              <a:rPr lang="en-US" sz="1800" dirty="0">
                <a:solidFill>
                  <a:schemeClr val="bg1"/>
                </a:solidFill>
              </a:rPr>
              <a:t>Nine independent runs: MAE 1.42 (CO), 2.01 (H2), 0.62 (CO2) %-pts; H2 biased low; trends between runs not captured</a:t>
            </a:r>
            <a:endParaRPr lang="en-US" sz="1800" dirty="0"/>
          </a:p>
          <a:p>
            <a:pPr marL="342900" indent="-342900">
              <a:spcAft>
                <a:spcPts val="1200"/>
              </a:spcAft>
              <a:buSzPct val="100000"/>
              <a:buChar char="•"/>
            </a:pPr>
            <a:r>
              <a:rPr lang="en-US" sz="1800" dirty="0">
                <a:solidFill>
                  <a:schemeClr val="bg1"/>
                </a:solidFill>
              </a:rPr>
              <a:t>Axial temperature within 93 K of the thermocouples, better than Jayah's model (121 K)</a:t>
            </a:r>
            <a:endParaRPr lang="en-US" sz="1800" dirty="0"/>
          </a:p>
          <a:p>
            <a:pPr marL="342900" indent="-342900">
              <a:spcAft>
                <a:spcPts val="1200"/>
              </a:spcAft>
              <a:buSzPct val="100000"/>
              <a:buChar char="•"/>
            </a:pPr>
            <a:r>
              <a:rPr lang="en-US" sz="1800" dirty="0">
                <a:solidFill>
                  <a:schemeClr val="bg1"/>
                </a:solidFill>
              </a:rPr>
              <a:t>2D model: hot core, cold wall layer, core char exhausted by about 11 cm</a:t>
            </a:r>
            <a:endParaRPr lang="en-US" sz="1800" dirty="0"/>
          </a:p>
          <a:p>
            <a:pPr marL="342900" indent="-342900">
              <a:spcAft>
                <a:spcPts val="1200"/>
              </a:spcAft>
              <a:buSzPct val="100000"/>
              <a:buChar char="•"/>
            </a:pPr>
            <a:r>
              <a:rPr lang="en-US" sz="1800" dirty="0">
                <a:solidFill>
                  <a:schemeClr val="bg1"/>
                </a:solidFill>
              </a:rPr>
              <a:t>Design: heat loss dominates; insulating the hearth is worth more than extending it to 33 cm</a:t>
            </a:r>
            <a:endParaRPr lang="en-US" sz="1800" dirty="0"/>
          </a:p>
        </p:txBody>
      </p:sp>
      <p:sp>
        <p:nvSpPr>
          <p:cNvPr id="4" name="repo"/>
          <p:cNvSpPr txBox="1"/>
          <p:nvPr/>
        </p:nvSpPr>
        <p:spPr>
          <a:xfrm>
            <a:off x="731520" y="6035040"/>
            <a:ext cx="10698480" cy="365760"/>
          </a:xfrm>
          <a:prstGeom prst="rect">
            <a:avLst/>
          </a:prstGeom>
          <a:noFill/>
          <a:ln/>
        </p:spPr>
        <p:txBody>
          <a:bodyPr wrap="square" lIns="0" tIns="0" rIns="0" bIns="0" rtlCol="0" anchor="ctr"/>
          <a:lstStyle/>
          <a:p>
            <a:pPr indent="0" marL="0">
              <a:buNone/>
            </a:pPr>
            <a:r>
              <a:rPr lang="en-US" sz="1300" dirty="0">
                <a:solidFill>
                  <a:schemeClr val="accent1"/>
                </a:solidFill>
              </a:rPr>
              <a:t>Code, data and report: Python repository, run_simulation.py reproduces every number</a:t>
            </a:r>
            <a:endParaRPr lang="en-US" sz="1300" dirty="0"/>
          </a:p>
        </p:txBody>
      </p:sp>
    </p:spTree>
  </p:cSld>
  <p:clrMapOvr>
    <a:masterClrMapping/>
  </p:clrMapOvr>
</p:sld>
</file>

<file path=ppt/theme/theme1.xml><?xml version="1.0" encoding="utf-8"?>
<a:theme xmlns:a="http://schemas.openxmlformats.org/drawingml/2006/main" name="Ember">
  <a:themeElements>
    <a:clrScheme name="Ember">
      <a:dk1>
        <a:srgbClr val="1F1F1F"/>
      </a:dk1>
      <a:lt1>
        <a:srgbClr val="FFFFFF"/>
      </a:lt1>
      <a:dk2>
        <a:srgbClr val="2B2A28"/>
      </a:dk2>
      <a:lt2>
        <a:srgbClr val="F3F2F0"/>
      </a:lt2>
      <a:accent1>
        <a:srgbClr val="D9531E"/>
      </a:accent1>
      <a:accent2>
        <a:srgbClr val="2A78D6"/>
      </a:accent2>
      <a:accent3>
        <a:srgbClr val="1BAF7A"/>
      </a:accent3>
      <a:accent4>
        <a:srgbClr val="EDA100"/>
      </a:accent4>
      <a:accent5>
        <a:srgbClr val="6B6A66"/>
      </a:accent5>
      <a:accent6>
        <a:srgbClr val="8C3A12"/>
      </a:accent6>
      <a:hlink>
        <a:srgbClr val="2A78D6"/>
      </a:hlink>
      <a:folHlink>
        <a:srgbClr val="6250D6"/>
      </a:folHlink>
    </a:clrScheme>
    <a:fontScheme name="E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Fixed-bed downdraft gasifier simulation - Batch 09</dc:title>
  <dc:subject>PptxGenJS Presentation</dc:subject>
  <dc:creator>Batch 09</dc:creator>
  <cp:lastModifiedBy>Batch 09</cp:lastModifiedBy>
  <cp:revision>1</cp:revision>
  <dcterms:created xsi:type="dcterms:W3CDTF">2026-10-28T19:51:05Z</dcterms:created>
  <dcterms:modified xsi:type="dcterms:W3CDTF">2026-10-28T19:51:05Z</dcterms:modified>
</cp:coreProperties>
</file>